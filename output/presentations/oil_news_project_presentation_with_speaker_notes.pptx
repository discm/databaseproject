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b54c2858344728" /><Relationship Type="http://schemas.openxmlformats.org/officeDocument/2006/relationships/extended-properties" Target="/docProps/app.xml" Id="R00a2f9010bec4333" /><Relationship Type="http://schemas.openxmlformats.org/officeDocument/2006/relationships/officeDocument" Target="/ppt/presentation.xml" Id="R5926f630b1ae485d" /></Relationships>
</file>

<file path=ppt/presentation.xml><?xml version="1.0" encoding="utf-8"?>
<p:presentation xmlns:p="http://schemas.openxmlformats.org/presentationml/2006/main">
  <p:sldMasterIdLst>
    <p:sldMasterId xmlns:r="http://schemas.openxmlformats.org/officeDocument/2006/relationships" id="2147483648" r:id="Rd561dc74eec44053"/>
  </p:sldMasterIdLst>
  <p:notesMasterIdLst>
    <p:notesMasterId xmlns:r="http://schemas.openxmlformats.org/officeDocument/2006/relationships" r:id="R1476fe03e07c43fb"/>
  </p:notesMasterIdLst>
  <p:sldIdLst>
    <p:sldId xmlns:r="http://schemas.openxmlformats.org/officeDocument/2006/relationships" id="256" r:id="R4c1b87d7c4e54ff9"/>
    <p:sldId xmlns:r="http://schemas.openxmlformats.org/officeDocument/2006/relationships" id="257" r:id="R56acbf02cc8c46c9"/>
    <p:sldId xmlns:r="http://schemas.openxmlformats.org/officeDocument/2006/relationships" id="258" r:id="R700c1129f57e48a0"/>
    <p:sldId xmlns:r="http://schemas.openxmlformats.org/officeDocument/2006/relationships" id="259" r:id="R964501b04ebb4ab0"/>
    <p:sldId xmlns:r="http://schemas.openxmlformats.org/officeDocument/2006/relationships" id="260" r:id="R46cf736f74ec498f"/>
    <p:sldId xmlns:r="http://schemas.openxmlformats.org/officeDocument/2006/relationships" id="261" r:id="Re5563923b6e549f6"/>
    <p:sldId xmlns:r="http://schemas.openxmlformats.org/officeDocument/2006/relationships" id="262" r:id="Rd2c5445dd53c4209"/>
    <p:sldId xmlns:r="http://schemas.openxmlformats.org/officeDocument/2006/relationships" id="263" r:id="R3e353290819541ed"/>
    <p:sldId xmlns:r="http://schemas.openxmlformats.org/officeDocument/2006/relationships" id="264" r:id="R4c28010115124781"/>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561dc74eec44053" /><Relationship Type="http://schemas.openxmlformats.org/officeDocument/2006/relationships/theme" Target="/ppt/theme/theme1.xml" Id="Reb57cc4c486e4965" /><Relationship Type="http://schemas.openxmlformats.org/officeDocument/2006/relationships/notesMaster" Target="/ppt/notesMasters/notesMaster1.xml" Id="R1476fe03e07c43fb" /><Relationship Type="http://schemas.openxmlformats.org/officeDocument/2006/relationships/presProps" Target="/ppt/presProps.xml" Id="R06da3327a1fc4443" /><Relationship Type="http://schemas.openxmlformats.org/officeDocument/2006/relationships/viewProps" Target="/ppt/viewProps.xml" Id="R46513aea64864b8f" /><Relationship Type="http://schemas.openxmlformats.org/officeDocument/2006/relationships/tableStyles" Target="/ppt/tableStyles.xml" Id="Raf2ad63fec5d4f01" /><Relationship Type="http://schemas.openxmlformats.org/officeDocument/2006/relationships/slide" Target="/ppt/slides/slide1.xml" Id="R4c1b87d7c4e54ff9" /><Relationship Type="http://schemas.openxmlformats.org/officeDocument/2006/relationships/slide" Target="/ppt/slides/slide2.xml" Id="R56acbf02cc8c46c9" /><Relationship Type="http://schemas.openxmlformats.org/officeDocument/2006/relationships/slide" Target="/ppt/slides/slide3.xml" Id="R700c1129f57e48a0" /><Relationship Type="http://schemas.openxmlformats.org/officeDocument/2006/relationships/slide" Target="/ppt/slides/slide4.xml" Id="R964501b04ebb4ab0" /><Relationship Type="http://schemas.openxmlformats.org/officeDocument/2006/relationships/slide" Target="/ppt/slides/slide5.xml" Id="R46cf736f74ec498f" /><Relationship Type="http://schemas.openxmlformats.org/officeDocument/2006/relationships/slide" Target="/ppt/slides/slide6.xml" Id="Re5563923b6e549f6" /><Relationship Type="http://schemas.openxmlformats.org/officeDocument/2006/relationships/slide" Target="/ppt/slides/slide7.xml" Id="Rd2c5445dd53c4209" /><Relationship Type="http://schemas.openxmlformats.org/officeDocument/2006/relationships/slide" Target="/ppt/slides/slide8.xml" Id="R3e353290819541ed" /><Relationship Type="http://schemas.openxmlformats.org/officeDocument/2006/relationships/slide" Target="/ppt/slides/slide9.xml" Id="R4c280101151247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0df40a8547444c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40dfe2b25640b1" /><Relationship Type="http://schemas.openxmlformats.org/officeDocument/2006/relationships/notesMaster" Target="/ppt/notesMasters/notesMaster1.xml" Id="Reae7acd68a2649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4de0b3ed8c4995" /><Relationship Type="http://schemas.openxmlformats.org/officeDocument/2006/relationships/notesMaster" Target="/ppt/notesMasters/notesMaster1.xml" Id="R64e4a120643f42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eadb68604c4083" /><Relationship Type="http://schemas.openxmlformats.org/officeDocument/2006/relationships/notesMaster" Target="/ppt/notesMasters/notesMaster1.xml" Id="R5bf96f53d8c04e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0ebb59cf544dd7" /><Relationship Type="http://schemas.openxmlformats.org/officeDocument/2006/relationships/notesMaster" Target="/ppt/notesMasters/notesMaster1.xml" Id="R54e497549f6c43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8f5fc1b980459d" /><Relationship Type="http://schemas.openxmlformats.org/officeDocument/2006/relationships/notesMaster" Target="/ppt/notesMasters/notesMaster1.xml" Id="Ra4305250e0584a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6964cbc418497b" /><Relationship Type="http://schemas.openxmlformats.org/officeDocument/2006/relationships/notesMaster" Target="/ppt/notesMasters/notesMaster1.xml" Id="R61b88f37411743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1acacafbfc4a31" /><Relationship Type="http://schemas.openxmlformats.org/officeDocument/2006/relationships/notesMaster" Target="/ppt/notesMasters/notesMaster1.xml" Id="Rc005d29a2c7a4e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0e7df10a6c4aa2" /><Relationship Type="http://schemas.openxmlformats.org/officeDocument/2006/relationships/notesMaster" Target="/ppt/notesMasters/notesMaster1.xml" Id="Re9490730ebf64b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f385ab04d4413e" /><Relationship Type="http://schemas.openxmlformats.org/officeDocument/2006/relationships/notesMaster" Target="/ppt/notesMasters/notesMaster1.xml" Id="R9266b7f76fc24d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US" dirty="0" smtClean="0"/>
              <a:t>Slide 1: Semantic News to Oil Price Signals</a:t>
            </a:r>
            <a:endParaRPr lang="en-US" dirty="0"/>
          </a:p>
          <a:p xmlns:a="http://schemas.openxmlformats.org/drawingml/2006/main">
            <a:r>
              <a:rPr lang="en-US" dirty="0" smtClean="0"/>
              <a:t/>
            </a:r>
            <a:endParaRPr lang="en-US" dirty="0"/>
          </a:p>
          <a:p xmlns:a="http://schemas.openxmlformats.org/drawingml/2006/main">
            <a:r>
              <a:rPr lang="en-US" dirty="0" smtClean="0"/>
              <a:t>Open by framing the project as an end-to-end analytics workflow, not just a model. The point is to connect semantic news risk, oil price history, geopolitical events, and country exposure in a way that can be queried and reproduced.</a:t>
            </a:r>
            <a:endParaRPr lang="en-US" dirty="0"/>
          </a:p>
          <a:p xmlns:a="http://schemas.openxmlformats.org/drawingml/2006/main">
            <a:r>
              <a:rPr lang="en-US" dirty="0" smtClean="0"/>
              <a:t>Call out the three headline numbers: roughly 4,000 daily market rows, more than 66,000 country-month GPR rows, and a test RMSE of 1.516 dollars. These establish scale, breadth, and model performance.</a:t>
            </a:r>
            <a:endParaRPr lang="en-US" dirty="0"/>
          </a:p>
          <a:p xmlns:a="http://schemas.openxmlformats.org/drawingml/2006/main">
            <a:r>
              <a:rPr lang="en-US" dirty="0" smtClean="0"/>
              <a:t>Transition: I will walk through how the data becomes a database, how the database becomes analysis views, and how those views support a transparent Brent price model.</a:t>
            </a:r>
            <a:endParaRPr lang="en-US" dirty="0"/>
          </a:p>
          <a:p xmlns:a="http://schemas.openxmlformats.org/drawingml/2006/main">
            <a:r>
              <a:rPr lang="en-US" dirty="0" smtClean="0"/>
              <a:t/>
            </a:r>
            <a:endParaRPr lang="en-US" dirty="0"/>
          </a:p>
          <a:p xmlns:a="http://schemas.openxmlformats.org/drawingml/2006/main">
            <a:r>
              <a:rPr lang="en-US" dirty="0" smtClean="0"/>
              <a:t>Suggested script:</a:t>
            </a:r>
            <a:endParaRPr lang="en-US" dirty="0"/>
          </a:p>
          <a:p xmlns:a="http://schemas.openxmlformats.org/drawingml/2006/main">
            <a:r>
              <a:rPr lang="en-US" dirty="0" smtClean="0"/>
              <a:t>Today I am presenting an end-to-end project that turns semantic news and geopolitical risk data into oil price signals. The project is built around MySQL and scikit-learn, so the work is reproducible from raw CSV inputs through database tables, analytics views, model artifacts, and presentation outputs. The quick headline is that we combine about 4,047 daily market rows with much broader geopolitical risk coverage, including 66,660 country-month observations, and the final next-day Brent model reaches a test RMSE of 1.516 dollars.</a:t>
            </a:r>
            <a:endParaRPr lang="en-US" dirty="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US" dirty="0" smtClean="0"/>
              <a:t>Slide 2: One workflow, three outputs</a:t>
            </a:r>
            <a:endParaRPr lang="en-US" dirty="0"/>
          </a:p>
          <a:p xmlns:a="http://schemas.openxmlformats.org/drawingml/2006/main">
            <a:r>
              <a:rPr lang="en-US" dirty="0" smtClean="0"/>
              <a:t/>
            </a:r>
            <a:endParaRPr lang="en-US" dirty="0"/>
          </a:p>
          <a:p xmlns:a="http://schemas.openxmlformats.org/drawingml/2006/main">
            <a:r>
              <a:rPr lang="en-US" dirty="0" smtClean="0"/>
              <a:t>Explain the pipeline in four steps: source datasets, MySQL storage, analytics views, and a scikit-learn model.</a:t>
            </a:r>
            <a:endParaRPr lang="en-US" dirty="0"/>
          </a:p>
          <a:p xmlns:a="http://schemas.openxmlformats.org/drawingml/2006/main">
            <a:r>
              <a:rPr lang="en-US" dirty="0" smtClean="0"/>
              <a:t>Emphasize that the outputs serve different audiences: database tables for traceability, views for analysis, and model artifacts for prediction.</a:t>
            </a:r>
            <a:endParaRPr lang="en-US" dirty="0"/>
          </a:p>
          <a:p xmlns:a="http://schemas.openxmlformats.org/drawingml/2006/main">
            <a:r>
              <a:rPr lang="en-US" dirty="0" smtClean="0"/>
              <a:t>Transition: Before getting into schema and modeling, show what the data actually contains.</a:t>
            </a:r>
            <a:endParaRPr lang="en-US" dirty="0"/>
          </a:p>
          <a:p xmlns:a="http://schemas.openxmlformats.org/drawingml/2006/main">
            <a:r>
              <a:rPr lang="en-US" dirty="0" smtClean="0"/>
              <a:t/>
            </a:r>
            <a:endParaRPr lang="en-US" dirty="0"/>
          </a:p>
          <a:p xmlns:a="http://schemas.openxmlformats.org/drawingml/2006/main">
            <a:r>
              <a:rPr lang="en-US" dirty="0" smtClean="0"/>
              <a:t>Suggested script:</a:t>
            </a:r>
            <a:endParaRPr lang="en-US" dirty="0"/>
          </a:p>
          <a:p xmlns:a="http://schemas.openxmlformats.org/drawingml/2006/main">
            <a:r>
              <a:rPr lang="en-US" dirty="0" smtClean="0"/>
              <a:t>The workflow has four main stages. First, the source datasets bring together semantic news, oil prices, geopolitical events, and country impact data. Second, MySQL stores those datasets in operational tables and dimensional reporting tables. Third, SQL views package the joins into analysis-ready surfaces. Finally, the modeling layer uses a StandardScaler into Ridge Regression to predict next-day Brent prices. The value here is that the project does not stop at a notebook; it produces a queryable database, reusable analysis views, and saved model artifacts.</a:t>
            </a:r>
            <a:endParaRPr lang="en-US" dirty="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US" dirty="0" smtClean="0"/>
              <a:t>Slide 3: The data mixes market prices with semantic risk</a:t>
            </a:r>
            <a:endParaRPr lang="en-US" dirty="0"/>
          </a:p>
          <a:p xmlns:a="http://schemas.openxmlformats.org/drawingml/2006/main">
            <a:r>
              <a:rPr lang="en-US" dirty="0" smtClean="0"/>
              <a:t/>
            </a:r>
            <a:endParaRPr lang="en-US" dirty="0"/>
          </a:p>
          <a:p xmlns:a="http://schemas.openxmlformats.org/drawingml/2006/main">
            <a:r>
              <a:rPr lang="en-US" dirty="0" smtClean="0"/>
              <a:t>Use this slide to establish coverage and credibility. The market data runs from 2010 to 2026, while daily GPR coverage reaches back to 1985.</a:t>
            </a:r>
            <a:endParaRPr lang="en-US" dirty="0"/>
          </a:p>
          <a:p xmlns:a="http://schemas.openxmlformats.org/drawingml/2006/main">
            <a:r>
              <a:rPr lang="en-US" dirty="0" smtClean="0"/>
              <a:t>Briefly describe each table: market prices and volatility, GPR/news signals, country-month risk, events, and countries.</a:t>
            </a:r>
            <a:endParaRPr lang="en-US" dirty="0"/>
          </a:p>
          <a:p xmlns:a="http://schemas.openxmlformats.org/drawingml/2006/main">
            <a:r>
              <a:rPr lang="en-US" dirty="0" smtClean="0"/>
              <a:t>Transition: With those ingredients, the database uses two layers so raw data and reporting data each have a clear home.</a:t>
            </a:r>
            <a:endParaRPr lang="en-US" dirty="0"/>
          </a:p>
          <a:p xmlns:a="http://schemas.openxmlformats.org/drawingml/2006/main">
            <a:r>
              <a:rPr lang="en-US" dirty="0" smtClean="0"/>
              <a:t/>
            </a:r>
            <a:endParaRPr lang="en-US" dirty="0"/>
          </a:p>
          <a:p xmlns:a="http://schemas.openxmlformats.org/drawingml/2006/main">
            <a:r>
              <a:rPr lang="en-US" dirty="0" smtClean="0"/>
              <a:t>Suggested script:</a:t>
            </a:r>
            <a:endParaRPr lang="en-US" dirty="0"/>
          </a:p>
          <a:p xmlns:a="http://schemas.openxmlformats.org/drawingml/2006/main">
            <a:r>
              <a:rPr lang="en-US" dirty="0" smtClean="0"/>
              <a:t>The dataset is deliberately mixed: it includes daily oil market data, geopolitical risk and news indices, named events, and country-level exposure. The operational market table has 4,047 rows covering Brent, WTI, macro indicators, volatility, lags, and event fields. The GPR daily table adds more than 15,000 rows of risk and news index data, while the country-month table adds 66,660 rows for country-level geopolitical risk measures. That gives the project both a daily market lens and a broader geopolitical context.</a:t>
            </a:r>
            <a:endParaRPr lang="en-US" dirty="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US" dirty="0" smtClean="0"/>
              <a:t>Slide 4: Two database layers keep analysis flexible</a:t>
            </a:r>
            <a:endParaRPr lang="en-US" dirty="0"/>
          </a:p>
          <a:p xmlns:a="http://schemas.openxmlformats.org/drawingml/2006/main">
            <a:r>
              <a:rPr lang="en-US" dirty="0" smtClean="0"/>
              <a:t/>
            </a:r>
            <a:endParaRPr lang="en-US" dirty="0"/>
          </a:p>
          <a:p xmlns:a="http://schemas.openxmlformats.org/drawingml/2006/main">
            <a:r>
              <a:rPr lang="en-US" dirty="0" smtClean="0"/>
              <a:t>Contrast the operational layer and dimensional layer. The operational layer preserves the source shape; the dimensional layer makes reporting easier.</a:t>
            </a:r>
            <a:endParaRPr lang="en-US" dirty="0"/>
          </a:p>
          <a:p xmlns:a="http://schemas.openxmlformats.org/drawingml/2006/main">
            <a:r>
              <a:rPr lang="en-US" dirty="0" smtClean="0"/>
              <a:t>Mention the main joins: dates connect market, GPR, and events; country identifiers connect country and impact tables.</a:t>
            </a:r>
            <a:endParaRPr lang="en-US" dirty="0"/>
          </a:p>
          <a:p xmlns:a="http://schemas.openxmlformats.org/drawingml/2006/main">
            <a:r>
              <a:rPr lang="en-US" dirty="0" smtClean="0"/>
              <a:t>Transition: Once the schema is in place, the views turn those joins into reusable surfaces.</a:t>
            </a:r>
            <a:endParaRPr lang="en-US" dirty="0"/>
          </a:p>
          <a:p xmlns:a="http://schemas.openxmlformats.org/drawingml/2006/main">
            <a:r>
              <a:rPr lang="en-US" dirty="0" smtClean="0"/>
              <a:t/>
            </a:r>
            <a:endParaRPr lang="en-US" dirty="0"/>
          </a:p>
          <a:p xmlns:a="http://schemas.openxmlformats.org/drawingml/2006/main">
            <a:r>
              <a:rPr lang="en-US" dirty="0" smtClean="0"/>
              <a:t>Suggested script:</a:t>
            </a:r>
            <a:endParaRPr lang="en-US" dirty="0"/>
          </a:p>
          <a:p xmlns:a="http://schemas.openxmlformats.org/drawingml/2006/main">
            <a:r>
              <a:rPr lang="en-US" dirty="0" smtClean="0"/>
              <a:t>The schema is organized into two layers. The operational layer keeps the source-oriented tables close to their original structure, which makes loading and auditing easier. The dimensional layer introduces standard reporting tables such as date, country, event, and fact tables. This separation gives us flexibility: we can preserve the raw shape of the inputs, but still support cleaner BI-style joins and analysis. The most important joins are date-based joins across market, GPR, and event data, plus country identifiers for country-level impact analysis.</a:t>
            </a:r>
            <a:endParaRPr lang="en-US" dirty="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US" dirty="0" smtClean="0"/>
              <a:t>Slide 5: Views turn raw tables into analysis surfaces</a:t>
            </a:r>
            <a:endParaRPr lang="en-US" dirty="0"/>
          </a:p>
          <a:p xmlns:a="http://schemas.openxmlformats.org/drawingml/2006/main">
            <a:r>
              <a:rPr lang="en-US" dirty="0" smtClean="0"/>
              <a:t/>
            </a:r>
            <a:endParaRPr lang="en-US" dirty="0"/>
          </a:p>
          <a:p xmlns:a="http://schemas.openxmlformats.org/drawingml/2006/main">
            <a:r>
              <a:rPr lang="en-US" dirty="0" smtClean="0"/>
              <a:t>Frame the three views as reusable products of the database layer.</a:t>
            </a:r>
            <a:endParaRPr lang="en-US" dirty="0"/>
          </a:p>
          <a:p xmlns:a="http://schemas.openxmlformats.org/drawingml/2006/main">
            <a:r>
              <a:rPr lang="en-US" dirty="0" smtClean="0"/>
              <a:t>Explain that vw_daily_oil_news_features supports modeling, vw_event_price_reaction supports event study, and vw_country_petrol_impact supports exposure reporting.</a:t>
            </a:r>
            <a:endParaRPr lang="en-US" dirty="0"/>
          </a:p>
          <a:p xmlns:a="http://schemas.openxmlformats.org/drawingml/2006/main">
            <a:r>
              <a:rPr lang="en-US" dirty="0" smtClean="0"/>
              <a:t>Transition: The first view feeds the transparent machine learning workflow.</a:t>
            </a:r>
            <a:endParaRPr lang="en-US" dirty="0"/>
          </a:p>
          <a:p xmlns:a="http://schemas.openxmlformats.org/drawingml/2006/main">
            <a:r>
              <a:rPr lang="en-US" dirty="0" smtClean="0"/>
              <a:t/>
            </a:r>
            <a:endParaRPr lang="en-US" dirty="0"/>
          </a:p>
          <a:p xmlns:a="http://schemas.openxmlformats.org/drawingml/2006/main">
            <a:r>
              <a:rPr lang="en-US" dirty="0" smtClean="0"/>
              <a:t>Suggested script:</a:t>
            </a:r>
            <a:endParaRPr lang="en-US" dirty="0"/>
          </a:p>
          <a:p xmlns:a="http://schemas.openxmlformats.org/drawingml/2006/main">
            <a:r>
              <a:rPr lang="en-US" dirty="0" smtClean="0"/>
              <a:t>Rather than asking every analysis to repeat the same joins, the project defines three MySQL views. The daily oil-news feature view brings together Brent, WTI, geopolitical risk, events, and volatility features for analysis and model inputs. The event reaction view is meant for inspecting price and risk indicators around named geopolitical events. The country petrol impact view combines country exposure, petrol price snapshots, and vulnerability indicators. These views make the database more usable because they package the repeated logic once.</a:t>
            </a:r>
            <a:endParaRPr lang="en-US" dirty="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US" dirty="0" smtClean="0"/>
              <a:t>Slide 6: A transparent scikit-learn model predicts next-day Brent</a:t>
            </a:r>
            <a:endParaRPr lang="en-US" dirty="0"/>
          </a:p>
          <a:p xmlns:a="http://schemas.openxmlformats.org/drawingml/2006/main">
            <a:r>
              <a:rPr lang="en-US" dirty="0" smtClean="0"/>
              <a:t/>
            </a:r>
            <a:endParaRPr lang="en-US" dirty="0"/>
          </a:p>
          <a:p xmlns:a="http://schemas.openxmlformats.org/drawingml/2006/main">
            <a:r>
              <a:rPr lang="en-US" dirty="0" smtClean="0"/>
              <a:t>Stress that the split is chronological, which is important for time-series credibility.</a:t>
            </a:r>
            <a:endParaRPr lang="en-US" dirty="0"/>
          </a:p>
          <a:p xmlns:a="http://schemas.openxmlformats.org/drawingml/2006/main">
            <a:r>
              <a:rPr lang="en-US" dirty="0" smtClean="0"/>
              <a:t>Point out the model is intentionally simple and explainable: scaled features plus Ridge Regression.</a:t>
            </a:r>
            <a:endParaRPr lang="en-US" dirty="0"/>
          </a:p>
          <a:p xmlns:a="http://schemas.openxmlformats.org/drawingml/2006/main">
            <a:r>
              <a:rPr lang="en-US" dirty="0" smtClean="0"/>
              <a:t>Mention the train/test ranges and exported artifacts.</a:t>
            </a:r>
            <a:endParaRPr lang="en-US" dirty="0"/>
          </a:p>
          <a:p xmlns:a="http://schemas.openxmlformats.org/drawingml/2006/main">
            <a:r>
              <a:rPr lang="en-US" dirty="0" smtClean="0"/>
              <a:t>Transition: The next slide explains what signals the model actually sees.</a:t>
            </a:r>
            <a:endParaRPr lang="en-US" dirty="0"/>
          </a:p>
          <a:p xmlns:a="http://schemas.openxmlformats.org/drawingml/2006/main">
            <a:r>
              <a:rPr lang="en-US" dirty="0" smtClean="0"/>
              <a:t/>
            </a:r>
            <a:endParaRPr lang="en-US" dirty="0"/>
          </a:p>
          <a:p xmlns:a="http://schemas.openxmlformats.org/drawingml/2006/main">
            <a:r>
              <a:rPr lang="en-US" dirty="0" smtClean="0"/>
              <a:t>Suggested script:</a:t>
            </a:r>
            <a:endParaRPr lang="en-US" dirty="0"/>
          </a:p>
          <a:p xmlns:a="http://schemas.openxmlformats.org/drawingml/2006/main">
            <a:r>
              <a:rPr lang="en-US" dirty="0" smtClean="0"/>
              <a:t>For modeling, the project uses a transparent scikit-learn pipeline: standardize the features, then fit Ridge Regression. The split is chronological, with training through December 21, 2022 and testing through March 12, 2026. That matters because the test set represents future holdout rows rather than a shuffled sample. The workflow saves the trained joblib pipeline, JSON metadata, and CSV test predictions, so the result can be reviewed and reused outside the training script.</a:t>
            </a:r>
            <a:endParaRPr lang="en-US" dirty="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US" dirty="0" smtClean="0"/>
              <a:t>Slide 7: Features combine prices, risk, volatility, and events</a:t>
            </a:r>
            <a:endParaRPr lang="en-US" dirty="0"/>
          </a:p>
          <a:p xmlns:a="http://schemas.openxmlformats.org/drawingml/2006/main">
            <a:r>
              <a:rPr lang="en-US" dirty="0" smtClean="0"/>
              <a:t/>
            </a:r>
            <a:endParaRPr lang="en-US" dirty="0"/>
          </a:p>
          <a:p xmlns:a="http://schemas.openxmlformats.org/drawingml/2006/main">
            <a:r>
              <a:rPr lang="en-US" dirty="0" smtClean="0"/>
              <a:t>Describe the feature groups at a high level rather than reading every metric.</a:t>
            </a:r>
            <a:endParaRPr lang="en-US" dirty="0"/>
          </a:p>
          <a:p xmlns:a="http://schemas.openxmlformats.org/drawingml/2006/main">
            <a:r>
              <a:rPr lang="en-US" dirty="0" smtClean="0"/>
              <a:t>Emphasize interpretability: current prices, macro fields, GPR, returns, lags, volatility, spread, and event features.</a:t>
            </a:r>
            <a:endParaRPr lang="en-US" dirty="0"/>
          </a:p>
          <a:p xmlns:a="http://schemas.openxmlformats.org/drawingml/2006/main">
            <a:r>
              <a:rPr lang="en-US" dirty="0" smtClean="0"/>
              <a:t>Transition: Now that the inputs are clear, move to performance and baseline comparison.</a:t>
            </a:r>
            <a:endParaRPr lang="en-US" dirty="0"/>
          </a:p>
          <a:p xmlns:a="http://schemas.openxmlformats.org/drawingml/2006/main">
            <a:r>
              <a:rPr lang="en-US" dirty="0" smtClean="0"/>
              <a:t/>
            </a:r>
            <a:endParaRPr lang="en-US" dirty="0"/>
          </a:p>
          <a:p xmlns:a="http://schemas.openxmlformats.org/drawingml/2006/main">
            <a:r>
              <a:rPr lang="en-US" dirty="0" smtClean="0"/>
              <a:t>Suggested script:</a:t>
            </a:r>
            <a:endParaRPr lang="en-US" dirty="0"/>
          </a:p>
          <a:p xmlns:a="http://schemas.openxmlformats.org/drawingml/2006/main">
            <a:r>
              <a:rPr lang="en-US" dirty="0" smtClean="0"/>
              <a:t>The model uses 20 fields from the market daily data. They are intentionally transparent: current Brent and WTI prices, macro indicators, the GPR risk index, daily returns, lagged prices, volatility fields, the Brent-WTI spread, and event features. This is not a black-box feature set. The goal is to combine market momentum, risk context, volatility, and event information in a way that is easy to explain during review.</a:t>
            </a:r>
            <a:endParaRPr lang="en-US" dirty="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US" dirty="0" smtClean="0"/>
              <a:t>Slide 8: The model narrowly beats a strong baseline</a:t>
            </a:r>
            <a:endParaRPr lang="en-US" dirty="0"/>
          </a:p>
          <a:p xmlns:a="http://schemas.openxmlformats.org/drawingml/2006/main">
            <a:r>
              <a:rPr lang="en-US" dirty="0" smtClean="0"/>
              <a:t/>
            </a:r>
            <a:endParaRPr lang="en-US" dirty="0"/>
          </a:p>
          <a:p xmlns:a="http://schemas.openxmlformats.org/drawingml/2006/main">
            <a:r>
              <a:rPr lang="en-US" dirty="0" smtClean="0"/>
              <a:t>Set expectations: next-day price prediction is difficult because yesterday?s price is already a very strong baseline.</a:t>
            </a:r>
            <a:endParaRPr lang="en-US" dirty="0"/>
          </a:p>
          <a:p xmlns:a="http://schemas.openxmlformats.org/drawingml/2006/main">
            <a:r>
              <a:rPr lang="en-US" dirty="0" smtClean="0"/>
              <a:t>Highlight the most important comparison: RMSE improves from 1.536 baseline to 1.516 model.</a:t>
            </a:r>
            <a:endParaRPr lang="en-US" dirty="0"/>
          </a:p>
          <a:p xmlns:a="http://schemas.openxmlformats.org/drawingml/2006/main">
            <a:r>
              <a:rPr lang="en-US" dirty="0" smtClean="0"/>
              <a:t>Mention R-squared and MAPE as supporting metrics, but avoid overstating the gain.</a:t>
            </a:r>
            <a:endParaRPr lang="en-US" dirty="0"/>
          </a:p>
          <a:p xmlns:a="http://schemas.openxmlformats.org/drawingml/2006/main">
            <a:r>
              <a:rPr lang="en-US" dirty="0" smtClean="0"/>
              <a:t>Transition: Close by showing how to reproduce and extend the handoff.</a:t>
            </a:r>
            <a:endParaRPr lang="en-US" dirty="0"/>
          </a:p>
          <a:p xmlns:a="http://schemas.openxmlformats.org/drawingml/2006/main">
            <a:r>
              <a:rPr lang="en-US" dirty="0" smtClean="0"/>
              <a:t/>
            </a:r>
            <a:endParaRPr lang="en-US" dirty="0"/>
          </a:p>
          <a:p xmlns:a="http://schemas.openxmlformats.org/drawingml/2006/main">
            <a:r>
              <a:rPr lang="en-US" dirty="0" smtClean="0"/>
              <a:t>Suggested script:</a:t>
            </a:r>
            <a:endParaRPr lang="en-US" dirty="0"/>
          </a:p>
          <a:p xmlns:a="http://schemas.openxmlformats.org/drawingml/2006/main">
            <a:r>
              <a:rPr lang="en-US" dirty="0" smtClean="0"/>
              <a:t>The performance story is modest but useful. Next-day oil price prediction is hard because the previous trading-day Brent price is already an excellent predictor. Against that strong baseline, the model narrowly improves RMSE from 1.536 dollars to 1.516 dollars. MAE is essentially tied, MAPE is 1.463 percent, and R-squared is 0.967 on the chronological holdout period. The right takeaway is not that this model perfectly predicts oil prices; it is that the database and feature workflow produce a credible, testable signal that slightly improves on a strong naive baseline.</a:t>
            </a:r>
            <a:endParaRPr lang="en-US" dirty="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US" dirty="0" smtClean="0"/>
              <a:t>Slide 9: The handoff is reproducible</a:t>
            </a:r>
            <a:endParaRPr lang="en-US" dirty="0"/>
          </a:p>
          <a:p xmlns:a="http://schemas.openxmlformats.org/drawingml/2006/main">
            <a:r>
              <a:rPr lang="en-US" dirty="0" smtClean="0"/>
              <a:t/>
            </a:r>
            <a:endParaRPr lang="en-US" dirty="0"/>
          </a:p>
          <a:p xmlns:a="http://schemas.openxmlformats.org/drawingml/2006/main">
            <a:r>
              <a:rPr lang="en-US" dirty="0" smtClean="0"/>
              <a:t>Close with reproducibility: install requirements, load MySQL, train the model, and run prediction.</a:t>
            </a:r>
            <a:endParaRPr lang="en-US" dirty="0"/>
          </a:p>
          <a:p xmlns:a="http://schemas.openxmlformats.org/drawingml/2006/main">
            <a:r>
              <a:rPr lang="en-US" dirty="0" smtClean="0"/>
              <a:t>Summarize deliverables: loader, views, schema guide, model, report, and presentation exports.</a:t>
            </a:r>
            <a:endParaRPr lang="en-US" dirty="0"/>
          </a:p>
          <a:p xmlns:a="http://schemas.openxmlformats.org/drawingml/2006/main">
            <a:r>
              <a:rPr lang="en-US" dirty="0" smtClean="0"/>
              <a:t>End with next steps: keys/indexes, dashboarding, rolling-window validation, and prediction tables.</a:t>
            </a:r>
            <a:endParaRPr lang="en-US" dirty="0"/>
          </a:p>
          <a:p xmlns:a="http://schemas.openxmlformats.org/drawingml/2006/main">
            <a:r>
              <a:rPr lang="en-US" dirty="0" smtClean="0"/>
              <a:t/>
            </a:r>
            <a:endParaRPr lang="en-US" dirty="0"/>
          </a:p>
          <a:p xmlns:a="http://schemas.openxmlformats.org/drawingml/2006/main">
            <a:r>
              <a:rPr lang="en-US" dirty="0" smtClean="0"/>
              <a:t>Suggested script:</a:t>
            </a:r>
            <a:endParaRPr lang="en-US" dirty="0"/>
          </a:p>
          <a:p xmlns:a="http://schemas.openxmlformats.org/drawingml/2006/main">
            <a:r>
              <a:rPr lang="en-US" dirty="0" smtClean="0"/>
              <a:t>The final handoff is designed to be reproducible. A reviewer can install the requirements, load the MySQL database, train the model, and run the prediction script using the commands on the slide. The deliverables include the MySQL loader and analytics views, a schema guide, the trained scikit-learn model, the report, and the editable presentation outputs. The natural next steps would be adding stronger foreign keys and indexes, building a dashboard, moving to rolling-window validation, and storing predictions back into database tables.</a:t>
            </a:r>
            <a:endParaRPr lang="en-US" dirty="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11b996aeb5414d"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3998eda8c9643ab" /><Relationship Type="http://schemas.openxmlformats.org/officeDocument/2006/relationships/slideLayout" Target="/ppt/slideLayouts/slideLayout2.xml" Id="R7ca6e893c2cb4e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a6e893c2cb4e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84b1ccd8a4f74fa4" /><Relationship Type="http://schemas.openxmlformats.org/officeDocument/2006/relationships/notesSlide" Target="/ppt/notesSlides/notesSlide1.xml" Id="R7dbe82d369c24d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b212fde2da84790" /><Relationship Type="http://schemas.openxmlformats.org/officeDocument/2006/relationships/notesSlide" Target="/ppt/notesSlides/notesSlide2.xml" Id="R6c09d1c4f52a4f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1cef2e3554340ed" /><Relationship Type="http://schemas.openxmlformats.org/officeDocument/2006/relationships/notesSlide" Target="/ppt/notesSlides/notesSlide3.xml" Id="R181f1549f91b4b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70ad3552e6249ee" /><Relationship Type="http://schemas.openxmlformats.org/officeDocument/2006/relationships/notesSlide" Target="/ppt/notesSlides/notesSlide4.xml" Id="Rbdcc4d5761ff41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d998329a3654e21" /><Relationship Type="http://schemas.openxmlformats.org/officeDocument/2006/relationships/notesSlide" Target="/ppt/notesSlides/notesSlide5.xml" Id="R4ed87cf9a63f40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a0f040b0bcd451d" /><Relationship Type="http://schemas.openxmlformats.org/officeDocument/2006/relationships/notesSlide" Target="/ppt/notesSlides/notesSlide6.xml" Id="Rd4dd90acd7bb47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f3d38a7809f435a" /><Relationship Type="http://schemas.openxmlformats.org/officeDocument/2006/relationships/notesSlide" Target="/ppt/notesSlides/notesSlide7.xml" Id="R1daba18742bd49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0bbf339d2ef4a49" /><Relationship Type="http://schemas.openxmlformats.org/officeDocument/2006/relationships/notesSlide" Target="/ppt/notesSlides/notesSlide8.xml" Id="R31b848a89fa949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2b89fb04c1245e2" /><Relationship Type="http://schemas.openxmlformats.org/officeDocument/2006/relationships/notesSlide" Target="/ppt/notesSlides/notesSlide9.xml" Id="R360c657876984aa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96C6A2-C639-480E-9EBD-8EC9BD2E65E8}"/>
              </a:ext>
            </a:extLst>
          </p:cNvPr>
          <p:cNvSpPr>
            <a:spLocks xmlns:a="http://schemas.openxmlformats.org/drawingml/2006/main" noGrp="1"/>
          </p:cNvSpPr>
          <p:nvPr/>
        </p:nvSpPr>
        <p:spPr>
          <a:xfrm xmlns:a="http://schemas.openxmlformats.org/drawingml/2006/main">
            <a:off x="857250" y="742950"/>
            <a:ext cx="8248650" cy="1790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10202E"/>
                </a:solidFill>
              </a:defRPr>
            </a:pPr>
            <a:r>
              <a:rPr sz="5850" b="1">
                <a:solidFill>
                  <a:srgbClr val="10202E"/>
                </a:solidFill>
              </a:rPr>
              <a:t>Semantic News to Oil Price Signals</a:t>
            </a:r>
          </a:p>
        </p:txBody>
      </p:sp>
      <p:sp>
        <p:nvSpPr>
          <p:cNvPr id="2" name="">
            <a:extLst xmlns:a="http://schemas.openxmlformats.org/drawingml/2006/main">
              <a:ext uri="{FF2B5EF4-FFF2-40B4-BE49-F238E27FC236}">
                <a16:creationId xmlns:a16="http://schemas.microsoft.com/office/drawing/2014/main" id="{35B67B36-AE48-4055-BD8C-F5C8DA6BDCEF}"/>
              </a:ext>
            </a:extLst>
          </p:cNvPr>
          <p:cNvSpPr>
            <a:spLocks xmlns:a="http://schemas.openxmlformats.org/drawingml/2006/main" noGrp="1"/>
          </p:cNvSpPr>
          <p:nvPr/>
        </p:nvSpPr>
        <p:spPr>
          <a:xfrm xmlns:a="http://schemas.openxmlformats.org/drawingml/2006/main">
            <a:off x="857250" y="2781300"/>
            <a:ext cx="2476500" cy="66675"/>
          </a:xfrm>
          <a:prstGeom xmlns:a="http://schemas.openxmlformats.org/drawingml/2006/main" prst="rect">
            <a:avLst/>
          </a:prstGeom>
          <a:solidFill xmlns:a="http://schemas.openxmlformats.org/drawingml/2006/main">
            <a:srgbClr val="C58A1A"/>
          </a:solidFill>
          <a:ln xmlns:a="http://schemas.openxmlformats.org/drawingml/2006/main" w="0">
            <a:solidFill>
              <a:srgbClr val="C58A1A"/>
            </a:solidFill>
            <a:prstDash val="solid"/>
          </a:ln>
        </p:spPr>
      </p:sp>
      <p:sp>
        <p:nvSpPr>
          <p:cNvPr id="3" name="">
            <a:extLst xmlns:a="http://schemas.openxmlformats.org/drawingml/2006/main">
              <a:ext uri="{FF2B5EF4-FFF2-40B4-BE49-F238E27FC236}">
                <a16:creationId xmlns:a16="http://schemas.microsoft.com/office/drawing/2014/main" id="{F24EB03A-42B6-46F2-949A-4ED548F8E06B}"/>
              </a:ext>
            </a:extLst>
          </p:cNvPr>
          <p:cNvSpPr>
            <a:spLocks xmlns:a="http://schemas.openxmlformats.org/drawingml/2006/main" noGrp="1"/>
          </p:cNvSpPr>
          <p:nvPr/>
        </p:nvSpPr>
        <p:spPr>
          <a:xfrm xmlns:a="http://schemas.openxmlformats.org/drawingml/2006/main">
            <a:off x="857250" y="3086100"/>
            <a:ext cx="7677150" cy="971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5C6C7A"/>
                </a:solidFill>
              </a:defRPr>
            </a:pPr>
            <a:r>
              <a:rPr sz="2100">
                <a:solidFill>
                  <a:srgbClr val="5C6C7A"/>
                </a:solidFill>
              </a:rPr>
              <a:t>A MySQL-backed analytics project joining geopolitical risk, oil prices, events, and country exposure into a reproducible scikit-learn workflow.</a:t>
            </a:r>
          </a:p>
        </p:txBody>
      </p:sp>
      <p:sp>
        <p:nvSpPr>
          <p:cNvPr id="4" name="">
            <a:extLst xmlns:a="http://schemas.openxmlformats.org/drawingml/2006/main">
              <a:ext uri="{FF2B5EF4-FFF2-40B4-BE49-F238E27FC236}">
                <a16:creationId xmlns:a16="http://schemas.microsoft.com/office/drawing/2014/main" id="{3252E260-AC49-44EF-9973-265135A6A176}"/>
              </a:ext>
            </a:extLst>
          </p:cNvPr>
          <p:cNvSpPr>
            <a:spLocks xmlns:a="http://schemas.openxmlformats.org/drawingml/2006/main" noGrp="1"/>
          </p:cNvSpPr>
          <p:nvPr/>
        </p:nvSpPr>
        <p:spPr>
          <a:xfrm xmlns:a="http://schemas.openxmlformats.org/drawingml/2006/main">
            <a:off x="10287000" y="742950"/>
            <a:ext cx="71437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E5C8A"/>
                </a:solidFill>
              </a:defRPr>
            </a:pPr>
            <a:r>
              <a:rPr sz="4350" b="1">
                <a:solidFill>
                  <a:srgbClr val="1E5C8A"/>
                </a:solidFill>
              </a:rPr>
              <a:t>4,047</a:t>
            </a:r>
          </a:p>
        </p:txBody>
      </p:sp>
      <p:sp>
        <p:nvSpPr>
          <p:cNvPr id="5" name="">
            <a:extLst xmlns:a="http://schemas.openxmlformats.org/drawingml/2006/main">
              <a:ext uri="{FF2B5EF4-FFF2-40B4-BE49-F238E27FC236}">
                <a16:creationId xmlns:a16="http://schemas.microsoft.com/office/drawing/2014/main" id="{75156517-670E-4B82-B8AE-A2742E60DEB2}"/>
              </a:ext>
            </a:extLst>
          </p:cNvPr>
          <p:cNvSpPr>
            <a:spLocks xmlns:a="http://schemas.openxmlformats.org/drawingml/2006/main" noGrp="1"/>
          </p:cNvSpPr>
          <p:nvPr/>
        </p:nvSpPr>
        <p:spPr>
          <a:xfrm xmlns:a="http://schemas.openxmlformats.org/drawingml/2006/main">
            <a:off x="10287000" y="1447800"/>
            <a:ext cx="71437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daily market rows</a:t>
            </a:r>
          </a:p>
        </p:txBody>
      </p:sp>
      <p:sp>
        <p:nvSpPr>
          <p:cNvPr id="6" name="">
            <a:extLst xmlns:a="http://schemas.openxmlformats.org/drawingml/2006/main">
              <a:ext uri="{FF2B5EF4-FFF2-40B4-BE49-F238E27FC236}">
                <a16:creationId xmlns:a16="http://schemas.microsoft.com/office/drawing/2014/main" id="{59355077-82E0-42AA-85B8-47010253B572}"/>
              </a:ext>
            </a:extLst>
          </p:cNvPr>
          <p:cNvSpPr>
            <a:spLocks xmlns:a="http://schemas.openxmlformats.org/drawingml/2006/main" noGrp="1"/>
          </p:cNvSpPr>
          <p:nvPr/>
        </p:nvSpPr>
        <p:spPr>
          <a:xfrm xmlns:a="http://schemas.openxmlformats.org/drawingml/2006/main">
            <a:off x="10287000" y="2019300"/>
            <a:ext cx="71437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F8A7B"/>
                </a:solidFill>
              </a:defRPr>
            </a:pPr>
            <a:r>
              <a:rPr sz="4350" b="1">
                <a:solidFill>
                  <a:srgbClr val="1F8A7B"/>
                </a:solidFill>
              </a:rPr>
              <a:t>66,660</a:t>
            </a:r>
          </a:p>
        </p:txBody>
      </p:sp>
      <p:sp>
        <p:nvSpPr>
          <p:cNvPr id="7" name="">
            <a:extLst xmlns:a="http://schemas.openxmlformats.org/drawingml/2006/main">
              <a:ext uri="{FF2B5EF4-FFF2-40B4-BE49-F238E27FC236}">
                <a16:creationId xmlns:a16="http://schemas.microsoft.com/office/drawing/2014/main" id="{10951C15-D875-4EDE-BD74-64F7C171E039}"/>
              </a:ext>
            </a:extLst>
          </p:cNvPr>
          <p:cNvSpPr>
            <a:spLocks xmlns:a="http://schemas.openxmlformats.org/drawingml/2006/main" noGrp="1"/>
          </p:cNvSpPr>
          <p:nvPr/>
        </p:nvSpPr>
        <p:spPr>
          <a:xfrm xmlns:a="http://schemas.openxmlformats.org/drawingml/2006/main">
            <a:off x="10287000" y="2705100"/>
            <a:ext cx="71437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country-month GPR rows</a:t>
            </a:r>
          </a:p>
        </p:txBody>
      </p:sp>
      <p:sp>
        <p:nvSpPr>
          <p:cNvPr id="8" name="">
            <a:extLst xmlns:a="http://schemas.openxmlformats.org/drawingml/2006/main">
              <a:ext uri="{FF2B5EF4-FFF2-40B4-BE49-F238E27FC236}">
                <a16:creationId xmlns:a16="http://schemas.microsoft.com/office/drawing/2014/main" id="{3D0C9C1B-D4A8-423F-BF55-BBB4A1FD4F09}"/>
              </a:ext>
            </a:extLst>
          </p:cNvPr>
          <p:cNvSpPr>
            <a:spLocks xmlns:a="http://schemas.openxmlformats.org/drawingml/2006/main" noGrp="1"/>
          </p:cNvSpPr>
          <p:nvPr/>
        </p:nvSpPr>
        <p:spPr>
          <a:xfrm xmlns:a="http://schemas.openxmlformats.org/drawingml/2006/main">
            <a:off x="10287000" y="3276600"/>
            <a:ext cx="71437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C58A1A"/>
                </a:solidFill>
              </a:defRPr>
            </a:pPr>
            <a:r>
              <a:rPr sz="4350" b="1">
                <a:solidFill>
                  <a:srgbClr val="C58A1A"/>
                </a:solidFill>
              </a:rPr>
              <a:t>1.516</a:t>
            </a:r>
          </a:p>
        </p:txBody>
      </p:sp>
      <p:sp>
        <p:nvSpPr>
          <p:cNvPr id="9" name="">
            <a:extLst xmlns:a="http://schemas.openxmlformats.org/drawingml/2006/main">
              <a:ext uri="{FF2B5EF4-FFF2-40B4-BE49-F238E27FC236}">
                <a16:creationId xmlns:a16="http://schemas.microsoft.com/office/drawing/2014/main" id="{86EA9DE6-DFBA-47A8-90DC-28CBBD641EF9}"/>
              </a:ext>
            </a:extLst>
          </p:cNvPr>
          <p:cNvSpPr>
            <a:spLocks xmlns:a="http://schemas.openxmlformats.org/drawingml/2006/main" noGrp="1"/>
          </p:cNvSpPr>
          <p:nvPr/>
        </p:nvSpPr>
        <p:spPr>
          <a:xfrm xmlns:a="http://schemas.openxmlformats.org/drawingml/2006/main">
            <a:off x="10287000" y="3981450"/>
            <a:ext cx="71437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test RMSE, USD</a:t>
            </a:r>
          </a:p>
        </p:txBody>
      </p:sp>
      <p:sp>
        <p:nvSpPr>
          <p:cNvPr id="10" name="">
            <a:extLst xmlns:a="http://schemas.openxmlformats.org/drawingml/2006/main">
              <a:ext uri="{FF2B5EF4-FFF2-40B4-BE49-F238E27FC236}">
                <a16:creationId xmlns:a16="http://schemas.microsoft.com/office/drawing/2014/main" id="{B5F3923C-EF23-4B3C-89C2-0AC70ADD86E4}"/>
              </a:ext>
            </a:extLst>
          </p:cNvPr>
          <p:cNvSpPr>
            <a:spLocks xmlns:a="http://schemas.openxmlformats.org/drawingml/2006/main" noGrp="1"/>
          </p:cNvSpPr>
          <p:nvPr/>
        </p:nvSpPr>
        <p:spPr>
          <a:xfrm xmlns:a="http://schemas.openxmlformats.org/drawingml/2006/main">
            <a:off x="857250" y="9372600"/>
            <a:ext cx="16573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5C6C7A"/>
                </a:solidFill>
              </a:defRPr>
            </a:pPr>
            <a:r>
              <a:rPr sz="1125">
                <a:solidFill>
                  <a:srgbClr val="5C6C7A"/>
                </a:solidFill>
              </a:rPr>
              <a:t>DatabaseProject - MySQL - scikit-learn - May 2026</a:t>
            </a:r>
          </a:p>
        </p:txBody>
      </p:sp>
    </p:spTree>
    <p:extLst>
      <p:ext uri="{BB962C8B-B14F-4D97-AF65-F5344CB8AC3E}">
        <p14:creationId xmlns:p14="http://schemas.microsoft.com/office/powerpoint/2010/main" val="61344184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6EE79CB1-028E-4C4E-B858-004CFBA1D277}"/>
              </a:ext>
            </a:extLst>
          </p:cNvPr>
          <p:cNvSpPr>
            <a:spLocks xmlns:a="http://schemas.openxmlformats.org/drawingml/2006/main" noGrp="1"/>
          </p:cNvSpPr>
          <p:nvPr/>
        </p:nvSpPr>
        <p:spPr>
          <a:xfrm xmlns:a="http://schemas.openxmlformats.org/drawingml/2006/main">
            <a:off x="800100" y="609600"/>
            <a:ext cx="166878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a:solidFill>
                  <a:srgbClr val="10202E"/>
                </a:solidFill>
              </a:defRPr>
            </a:pPr>
            <a:r>
              <a:rPr sz="4050" b="1">
                <a:solidFill>
                  <a:srgbClr val="10202E"/>
                </a:solidFill>
              </a:rPr>
              <a:t>One workflow, three outputs</a:t>
            </a:r>
          </a:p>
        </p:txBody>
      </p:sp>
      <p:sp>
        <p:nvSpPr>
          <p:cNvPr id="2" name="slide-subtitle">
            <a:extLst xmlns:a="http://schemas.openxmlformats.org/drawingml/2006/main">
              <a:ext uri="{FF2B5EF4-FFF2-40B4-BE49-F238E27FC236}">
                <a16:creationId xmlns:a16="http://schemas.microsoft.com/office/drawing/2014/main" id="{3415BDD2-3C47-444B-9302-E34DFD1EB654}"/>
              </a:ext>
            </a:extLst>
          </p:cNvPr>
          <p:cNvSpPr>
            <a:spLocks xmlns:a="http://schemas.openxmlformats.org/drawingml/2006/main" noGrp="1"/>
          </p:cNvSpPr>
          <p:nvPr/>
        </p:nvSpPr>
        <p:spPr>
          <a:xfrm xmlns:a="http://schemas.openxmlformats.org/drawingml/2006/main">
            <a:off x="800100" y="1333500"/>
            <a:ext cx="8915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5C6C7A"/>
                </a:solidFill>
              </a:defRPr>
            </a:pPr>
            <a:r>
              <a:rPr sz="1800">
                <a:solidFill>
                  <a:srgbClr val="5C6C7A"/>
                </a:solidFill>
              </a:rPr>
              <a:t>The source CSVs become a queryable database, analysis surfaces, and predictive model artifacts.</a:t>
            </a:r>
          </a:p>
        </p:txBody>
      </p:sp>
      <p:sp>
        <p:nvSpPr>
          <p:cNvPr id="3" name="">
            <a:extLst xmlns:a="http://schemas.openxmlformats.org/drawingml/2006/main">
              <a:ext uri="{FF2B5EF4-FFF2-40B4-BE49-F238E27FC236}">
                <a16:creationId xmlns:a16="http://schemas.microsoft.com/office/drawing/2014/main" id="{08DDE60C-A62F-45D9-90F6-28F2191B3EA9}"/>
              </a:ext>
            </a:extLst>
          </p:cNvPr>
          <p:cNvSpPr>
            <a:spLocks xmlns:a="http://schemas.openxmlformats.org/drawingml/2006/main" noGrp="1"/>
          </p:cNvSpPr>
          <p:nvPr/>
        </p:nvSpPr>
        <p:spPr>
          <a:xfrm xmlns:a="http://schemas.openxmlformats.org/drawingml/2006/main">
            <a:off x="800100" y="2053590"/>
            <a:ext cx="552450" cy="552450"/>
          </a:xfrm>
          <a:prstGeom xmlns:a="http://schemas.openxmlformats.org/drawingml/2006/main" prst="roundRect">
            <a:avLst>
              <a:gd name="adj" fmla="val 50000"/>
            </a:avLst>
          </a:prstGeom>
          <a:solidFill xmlns:a="http://schemas.openxmlformats.org/drawingml/2006/main">
            <a:srgbClr val="1E5C8A"/>
          </a:solidFill>
        </p:spPr>
      </p:sp>
      <p:sp>
        <p:nvSpPr>
          <p:cNvPr id="4" name="">
            <a:extLst xmlns:a="http://schemas.openxmlformats.org/drawingml/2006/main">
              <a:ext uri="{FF2B5EF4-FFF2-40B4-BE49-F238E27FC236}">
                <a16:creationId xmlns:a16="http://schemas.microsoft.com/office/drawing/2014/main" id="{FE89917C-778B-430D-BBBA-ED620AF02F9D}"/>
              </a:ext>
            </a:extLst>
          </p:cNvPr>
          <p:cNvSpPr>
            <a:spLocks xmlns:a="http://schemas.openxmlformats.org/drawingml/2006/main" noGrp="1"/>
          </p:cNvSpPr>
          <p:nvPr/>
        </p:nvSpPr>
        <p:spPr>
          <a:xfrm xmlns:a="http://schemas.openxmlformats.org/drawingml/2006/main">
            <a:off x="800100" y="2057400"/>
            <a:ext cx="5524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FFFFFF"/>
                </a:solidFill>
              </a:defRPr>
            </a:pPr>
            <a:r>
              <a:rPr sz="2025" b="1">
                <a:solidFill>
                  <a:srgbClr val="FFFFFF"/>
                </a:solidFill>
              </a:rPr>
              <a:t>1</a:t>
            </a:r>
          </a:p>
        </p:txBody>
      </p:sp>
      <p:sp>
        <p:nvSpPr>
          <p:cNvPr id="5" name="">
            <a:extLst xmlns:a="http://schemas.openxmlformats.org/drawingml/2006/main">
              <a:ext uri="{FF2B5EF4-FFF2-40B4-BE49-F238E27FC236}">
                <a16:creationId xmlns:a16="http://schemas.microsoft.com/office/drawing/2014/main" id="{A413246B-92D3-472E-B9A7-B3582E9F55D5}"/>
              </a:ext>
            </a:extLst>
          </p:cNvPr>
          <p:cNvSpPr>
            <a:spLocks xmlns:a="http://schemas.openxmlformats.org/drawingml/2006/main" noGrp="1"/>
          </p:cNvSpPr>
          <p:nvPr/>
        </p:nvSpPr>
        <p:spPr>
          <a:xfrm xmlns:a="http://schemas.openxmlformats.org/drawingml/2006/main">
            <a:off x="1524000" y="2057400"/>
            <a:ext cx="7429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0202E"/>
                </a:solidFill>
              </a:defRPr>
            </a:pPr>
            <a:r>
              <a:rPr sz="1875" b="1">
                <a:solidFill>
                  <a:srgbClr val="10202E"/>
                </a:solidFill>
              </a:rPr>
              <a:t>Datasets</a:t>
            </a:r>
          </a:p>
        </p:txBody>
      </p:sp>
      <p:sp>
        <p:nvSpPr>
          <p:cNvPr id="6" name="">
            <a:extLst xmlns:a="http://schemas.openxmlformats.org/drawingml/2006/main">
              <a:ext uri="{FF2B5EF4-FFF2-40B4-BE49-F238E27FC236}">
                <a16:creationId xmlns:a16="http://schemas.microsoft.com/office/drawing/2014/main" id="{0100DDA6-8AC3-4DDF-A403-D8FCC950C57F}"/>
              </a:ext>
            </a:extLst>
          </p:cNvPr>
          <p:cNvSpPr>
            <a:spLocks xmlns:a="http://schemas.openxmlformats.org/drawingml/2006/main" noGrp="1"/>
          </p:cNvSpPr>
          <p:nvPr/>
        </p:nvSpPr>
        <p:spPr>
          <a:xfrm xmlns:a="http://schemas.openxmlformats.org/drawingml/2006/main">
            <a:off x="1524000" y="2362200"/>
            <a:ext cx="7429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5C6C7A"/>
                </a:solidFill>
              </a:defRPr>
            </a:pPr>
            <a:r>
              <a:rPr sz="1425">
                <a:solidFill>
                  <a:srgbClr val="5C6C7A"/>
                </a:solidFill>
              </a:rPr>
              <a:t>Semantic news, market prices, events, country impact</a:t>
            </a:r>
          </a:p>
        </p:txBody>
      </p:sp>
      <p:sp>
        <p:nvSpPr>
          <p:cNvPr id="7" name="">
            <a:extLst xmlns:a="http://schemas.openxmlformats.org/drawingml/2006/main">
              <a:ext uri="{FF2B5EF4-FFF2-40B4-BE49-F238E27FC236}">
                <a16:creationId xmlns:a16="http://schemas.microsoft.com/office/drawing/2014/main" id="{31E40183-C6FD-4A92-B03C-3F58E925BFAD}"/>
              </a:ext>
            </a:extLst>
          </p:cNvPr>
          <p:cNvSpPr>
            <a:spLocks xmlns:a="http://schemas.openxmlformats.org/drawingml/2006/main" noGrp="1"/>
          </p:cNvSpPr>
          <p:nvPr/>
        </p:nvSpPr>
        <p:spPr>
          <a:xfrm xmlns:a="http://schemas.openxmlformats.org/drawingml/2006/main">
            <a:off x="9344025" y="2053590"/>
            <a:ext cx="552450" cy="552450"/>
          </a:xfrm>
          <a:prstGeom xmlns:a="http://schemas.openxmlformats.org/drawingml/2006/main" prst="roundRect">
            <a:avLst>
              <a:gd name="adj" fmla="val 50000"/>
            </a:avLst>
          </a:prstGeom>
          <a:solidFill xmlns:a="http://schemas.openxmlformats.org/drawingml/2006/main">
            <a:srgbClr val="1E5C8A"/>
          </a:solidFill>
        </p:spPr>
      </p:sp>
      <p:sp>
        <p:nvSpPr>
          <p:cNvPr id="8" name="">
            <a:extLst xmlns:a="http://schemas.openxmlformats.org/drawingml/2006/main">
              <a:ext uri="{FF2B5EF4-FFF2-40B4-BE49-F238E27FC236}">
                <a16:creationId xmlns:a16="http://schemas.microsoft.com/office/drawing/2014/main" id="{C012E836-7661-4A4A-BED3-40521E385B40}"/>
              </a:ext>
            </a:extLst>
          </p:cNvPr>
          <p:cNvSpPr>
            <a:spLocks xmlns:a="http://schemas.openxmlformats.org/drawingml/2006/main" noGrp="1"/>
          </p:cNvSpPr>
          <p:nvPr/>
        </p:nvSpPr>
        <p:spPr>
          <a:xfrm xmlns:a="http://schemas.openxmlformats.org/drawingml/2006/main">
            <a:off x="9353550" y="2057400"/>
            <a:ext cx="5524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FFFFFF"/>
                </a:solidFill>
              </a:defRPr>
            </a:pPr>
            <a:r>
              <a:rPr sz="2025" b="1">
                <a:solidFill>
                  <a:srgbClr val="FFFFFF"/>
                </a:solidFill>
              </a:rPr>
              <a:t>2</a:t>
            </a:r>
          </a:p>
        </p:txBody>
      </p:sp>
      <p:sp>
        <p:nvSpPr>
          <p:cNvPr id="9" name="">
            <a:extLst xmlns:a="http://schemas.openxmlformats.org/drawingml/2006/main">
              <a:ext uri="{FF2B5EF4-FFF2-40B4-BE49-F238E27FC236}">
                <a16:creationId xmlns:a16="http://schemas.microsoft.com/office/drawing/2014/main" id="{45CBA6E5-1DCF-4324-B6D4-C7E4F2F96A85}"/>
              </a:ext>
            </a:extLst>
          </p:cNvPr>
          <p:cNvSpPr>
            <a:spLocks xmlns:a="http://schemas.openxmlformats.org/drawingml/2006/main" noGrp="1"/>
          </p:cNvSpPr>
          <p:nvPr/>
        </p:nvSpPr>
        <p:spPr>
          <a:xfrm xmlns:a="http://schemas.openxmlformats.org/drawingml/2006/main">
            <a:off x="10077450" y="2057400"/>
            <a:ext cx="7429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0202E"/>
                </a:solidFill>
              </a:defRPr>
            </a:pPr>
            <a:r>
              <a:rPr sz="1875" b="1">
                <a:solidFill>
                  <a:srgbClr val="10202E"/>
                </a:solidFill>
              </a:rPr>
              <a:t>MySQL</a:t>
            </a:r>
          </a:p>
        </p:txBody>
      </p:sp>
      <p:sp>
        <p:nvSpPr>
          <p:cNvPr id="10" name="">
            <a:extLst xmlns:a="http://schemas.openxmlformats.org/drawingml/2006/main">
              <a:ext uri="{FF2B5EF4-FFF2-40B4-BE49-F238E27FC236}">
                <a16:creationId xmlns:a16="http://schemas.microsoft.com/office/drawing/2014/main" id="{A705B8CB-7892-4F4A-B337-0AEB94A5EFFD}"/>
              </a:ext>
            </a:extLst>
          </p:cNvPr>
          <p:cNvSpPr>
            <a:spLocks xmlns:a="http://schemas.openxmlformats.org/drawingml/2006/main" noGrp="1"/>
          </p:cNvSpPr>
          <p:nvPr/>
        </p:nvSpPr>
        <p:spPr>
          <a:xfrm xmlns:a="http://schemas.openxmlformats.org/drawingml/2006/main">
            <a:off x="10077450" y="2362200"/>
            <a:ext cx="7429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5C6C7A"/>
                </a:solidFill>
              </a:defRPr>
            </a:pPr>
            <a:r>
              <a:rPr sz="1425">
                <a:solidFill>
                  <a:srgbClr val="5C6C7A"/>
                </a:solidFill>
              </a:rPr>
              <a:t>Operational source tables plus dim/fact reporting tables</a:t>
            </a:r>
          </a:p>
        </p:txBody>
      </p:sp>
      <p:sp>
        <p:nvSpPr>
          <p:cNvPr id="11" name="">
            <a:extLst xmlns:a="http://schemas.openxmlformats.org/drawingml/2006/main">
              <a:ext uri="{FF2B5EF4-FFF2-40B4-BE49-F238E27FC236}">
                <a16:creationId xmlns:a16="http://schemas.microsoft.com/office/drawing/2014/main" id="{F7A92475-586D-448C-A258-5DF54DA4C434}"/>
              </a:ext>
            </a:extLst>
          </p:cNvPr>
          <p:cNvSpPr>
            <a:spLocks xmlns:a="http://schemas.openxmlformats.org/drawingml/2006/main" noGrp="1"/>
          </p:cNvSpPr>
          <p:nvPr/>
        </p:nvSpPr>
        <p:spPr>
          <a:xfrm xmlns:a="http://schemas.openxmlformats.org/drawingml/2006/main">
            <a:off x="800100" y="5640705"/>
            <a:ext cx="552450" cy="552450"/>
          </a:xfrm>
          <a:prstGeom xmlns:a="http://schemas.openxmlformats.org/drawingml/2006/main" prst="roundRect">
            <a:avLst>
              <a:gd name="adj" fmla="val 50000"/>
            </a:avLst>
          </a:prstGeom>
          <a:solidFill xmlns:a="http://schemas.openxmlformats.org/drawingml/2006/main">
            <a:srgbClr val="1E5C8A"/>
          </a:solidFill>
        </p:spPr>
      </p:sp>
      <p:sp>
        <p:nvSpPr>
          <p:cNvPr id="12" name="">
            <a:extLst xmlns:a="http://schemas.openxmlformats.org/drawingml/2006/main">
              <a:ext uri="{FF2B5EF4-FFF2-40B4-BE49-F238E27FC236}">
                <a16:creationId xmlns:a16="http://schemas.microsoft.com/office/drawing/2014/main" id="{A26C7E6D-5054-4E45-AB1E-48182EBE6100}"/>
              </a:ext>
            </a:extLst>
          </p:cNvPr>
          <p:cNvSpPr>
            <a:spLocks xmlns:a="http://schemas.openxmlformats.org/drawingml/2006/main" noGrp="1"/>
          </p:cNvSpPr>
          <p:nvPr/>
        </p:nvSpPr>
        <p:spPr>
          <a:xfrm xmlns:a="http://schemas.openxmlformats.org/drawingml/2006/main">
            <a:off x="800100" y="5638800"/>
            <a:ext cx="5524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FFFFFF"/>
                </a:solidFill>
              </a:defRPr>
            </a:pPr>
            <a:r>
              <a:rPr sz="2025" b="1">
                <a:solidFill>
                  <a:srgbClr val="FFFFFF"/>
                </a:solidFill>
              </a:rPr>
              <a:t>3</a:t>
            </a:r>
          </a:p>
        </p:txBody>
      </p:sp>
      <p:sp>
        <p:nvSpPr>
          <p:cNvPr id="13" name="">
            <a:extLst xmlns:a="http://schemas.openxmlformats.org/drawingml/2006/main">
              <a:ext uri="{FF2B5EF4-FFF2-40B4-BE49-F238E27FC236}">
                <a16:creationId xmlns:a16="http://schemas.microsoft.com/office/drawing/2014/main" id="{623F4125-21BA-4F65-B265-2F7B9CE30F43}"/>
              </a:ext>
            </a:extLst>
          </p:cNvPr>
          <p:cNvSpPr>
            <a:spLocks xmlns:a="http://schemas.openxmlformats.org/drawingml/2006/main" noGrp="1"/>
          </p:cNvSpPr>
          <p:nvPr/>
        </p:nvSpPr>
        <p:spPr>
          <a:xfrm xmlns:a="http://schemas.openxmlformats.org/drawingml/2006/main">
            <a:off x="1524000" y="5638800"/>
            <a:ext cx="7429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0202E"/>
                </a:solidFill>
              </a:defRPr>
            </a:pPr>
            <a:r>
              <a:rPr sz="1875" b="1">
                <a:solidFill>
                  <a:srgbClr val="10202E"/>
                </a:solidFill>
              </a:rPr>
              <a:t>Views</a:t>
            </a:r>
          </a:p>
        </p:txBody>
      </p:sp>
      <p:sp>
        <p:nvSpPr>
          <p:cNvPr id="14" name="">
            <a:extLst xmlns:a="http://schemas.openxmlformats.org/drawingml/2006/main">
              <a:ext uri="{FF2B5EF4-FFF2-40B4-BE49-F238E27FC236}">
                <a16:creationId xmlns:a16="http://schemas.microsoft.com/office/drawing/2014/main" id="{570FF62D-3F96-44C5-8BB9-F1561CE7018C}"/>
              </a:ext>
            </a:extLst>
          </p:cNvPr>
          <p:cNvSpPr>
            <a:spLocks xmlns:a="http://schemas.openxmlformats.org/drawingml/2006/main" noGrp="1"/>
          </p:cNvSpPr>
          <p:nvPr/>
        </p:nvSpPr>
        <p:spPr>
          <a:xfrm xmlns:a="http://schemas.openxmlformats.org/drawingml/2006/main">
            <a:off x="1524000" y="5962650"/>
            <a:ext cx="7429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5C6C7A"/>
                </a:solidFill>
              </a:defRPr>
            </a:pPr>
            <a:r>
              <a:rPr sz="1425">
                <a:solidFill>
                  <a:srgbClr val="5C6C7A"/>
                </a:solidFill>
              </a:rPr>
              <a:t>Daily oil/news features and event/country analysis</a:t>
            </a:r>
          </a:p>
        </p:txBody>
      </p:sp>
      <p:sp>
        <p:nvSpPr>
          <p:cNvPr id="15" name="">
            <a:extLst xmlns:a="http://schemas.openxmlformats.org/drawingml/2006/main">
              <a:ext uri="{FF2B5EF4-FFF2-40B4-BE49-F238E27FC236}">
                <a16:creationId xmlns:a16="http://schemas.microsoft.com/office/drawing/2014/main" id="{5C7DEEA3-3AB9-4EFD-9006-6C3E0D14E1E4}"/>
              </a:ext>
            </a:extLst>
          </p:cNvPr>
          <p:cNvSpPr>
            <a:spLocks xmlns:a="http://schemas.openxmlformats.org/drawingml/2006/main" noGrp="1"/>
          </p:cNvSpPr>
          <p:nvPr/>
        </p:nvSpPr>
        <p:spPr>
          <a:xfrm xmlns:a="http://schemas.openxmlformats.org/drawingml/2006/main">
            <a:off x="9344025" y="5640705"/>
            <a:ext cx="552450" cy="552450"/>
          </a:xfrm>
          <a:prstGeom xmlns:a="http://schemas.openxmlformats.org/drawingml/2006/main" prst="roundRect">
            <a:avLst>
              <a:gd name="adj" fmla="val 50000"/>
            </a:avLst>
          </a:prstGeom>
          <a:solidFill xmlns:a="http://schemas.openxmlformats.org/drawingml/2006/main">
            <a:srgbClr val="1E5C8A"/>
          </a:solidFill>
        </p:spPr>
      </p:sp>
      <p:sp>
        <p:nvSpPr>
          <p:cNvPr id="16" name="">
            <a:extLst xmlns:a="http://schemas.openxmlformats.org/drawingml/2006/main">
              <a:ext uri="{FF2B5EF4-FFF2-40B4-BE49-F238E27FC236}">
                <a16:creationId xmlns:a16="http://schemas.microsoft.com/office/drawing/2014/main" id="{7976061C-A568-4CAF-90A2-DB2ACCEC4239}"/>
              </a:ext>
            </a:extLst>
          </p:cNvPr>
          <p:cNvSpPr>
            <a:spLocks xmlns:a="http://schemas.openxmlformats.org/drawingml/2006/main" noGrp="1"/>
          </p:cNvSpPr>
          <p:nvPr/>
        </p:nvSpPr>
        <p:spPr>
          <a:xfrm xmlns:a="http://schemas.openxmlformats.org/drawingml/2006/main">
            <a:off x="9353550" y="5638800"/>
            <a:ext cx="5524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FFFFFF"/>
                </a:solidFill>
              </a:defRPr>
            </a:pPr>
            <a:r>
              <a:rPr sz="2025" b="1">
                <a:solidFill>
                  <a:srgbClr val="FFFFFF"/>
                </a:solidFill>
              </a:rPr>
              <a:t>4</a:t>
            </a:r>
          </a:p>
        </p:txBody>
      </p:sp>
      <p:sp>
        <p:nvSpPr>
          <p:cNvPr id="17" name="">
            <a:extLst xmlns:a="http://schemas.openxmlformats.org/drawingml/2006/main">
              <a:ext uri="{FF2B5EF4-FFF2-40B4-BE49-F238E27FC236}">
                <a16:creationId xmlns:a16="http://schemas.microsoft.com/office/drawing/2014/main" id="{3A87E681-6A35-43D3-8A6E-2849FCE390C2}"/>
              </a:ext>
            </a:extLst>
          </p:cNvPr>
          <p:cNvSpPr>
            <a:spLocks xmlns:a="http://schemas.openxmlformats.org/drawingml/2006/main" noGrp="1"/>
          </p:cNvSpPr>
          <p:nvPr/>
        </p:nvSpPr>
        <p:spPr>
          <a:xfrm xmlns:a="http://schemas.openxmlformats.org/drawingml/2006/main">
            <a:off x="10077450" y="5638800"/>
            <a:ext cx="7429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0202E"/>
                </a:solidFill>
              </a:defRPr>
            </a:pPr>
            <a:r>
              <a:rPr sz="1875" b="1">
                <a:solidFill>
                  <a:srgbClr val="10202E"/>
                </a:solidFill>
              </a:rPr>
              <a:t>Model</a:t>
            </a:r>
          </a:p>
        </p:txBody>
      </p:sp>
      <p:sp>
        <p:nvSpPr>
          <p:cNvPr id="18" name="">
            <a:extLst xmlns:a="http://schemas.openxmlformats.org/drawingml/2006/main">
              <a:ext uri="{FF2B5EF4-FFF2-40B4-BE49-F238E27FC236}">
                <a16:creationId xmlns:a16="http://schemas.microsoft.com/office/drawing/2014/main" id="{7EA4339B-0675-4C5B-9010-0C02D9F724E0}"/>
              </a:ext>
            </a:extLst>
          </p:cNvPr>
          <p:cNvSpPr>
            <a:spLocks xmlns:a="http://schemas.openxmlformats.org/drawingml/2006/main" noGrp="1"/>
          </p:cNvSpPr>
          <p:nvPr/>
        </p:nvSpPr>
        <p:spPr>
          <a:xfrm xmlns:a="http://schemas.openxmlformats.org/drawingml/2006/main">
            <a:off x="10077450" y="5962650"/>
            <a:ext cx="7429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5C6C7A"/>
                </a:solidFill>
              </a:defRPr>
            </a:pPr>
            <a:r>
              <a:rPr sz="1425">
                <a:solidFill>
                  <a:srgbClr val="5C6C7A"/>
                </a:solidFill>
              </a:rPr>
              <a:t>StandardScaler -&gt; Ridge Regression for next-day Brent</a:t>
            </a:r>
          </a:p>
        </p:txBody>
      </p:sp>
      <p:sp>
        <p:nvSpPr>
          <p:cNvPr id="19" name="">
            <a:extLst xmlns:a="http://schemas.openxmlformats.org/drawingml/2006/main">
              <a:ext uri="{FF2B5EF4-FFF2-40B4-BE49-F238E27FC236}">
                <a16:creationId xmlns:a16="http://schemas.microsoft.com/office/drawing/2014/main" id="{9102716D-3AAD-48DF-B67F-7853736E49E0}"/>
              </a:ext>
            </a:extLst>
          </p:cNvPr>
          <p:cNvSpPr>
            <a:spLocks xmlns:a="http://schemas.openxmlformats.org/drawingml/2006/main" noGrp="1"/>
          </p:cNvSpPr>
          <p:nvPr/>
        </p:nvSpPr>
        <p:spPr>
          <a:xfrm xmlns:a="http://schemas.openxmlformats.org/drawingml/2006/main">
            <a:off x="800100" y="9372600"/>
            <a:ext cx="166878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10202E"/>
                </a:solidFill>
              </a:defRPr>
            </a:pPr>
            <a:r>
              <a:rPr sz="1950" b="1">
                <a:solidFill>
                  <a:srgbClr val="10202E"/>
                </a:solidFill>
              </a:rPr>
              <a:t>Final handoff includes scripts, schema docs, trained model, report, PDF, and this deck.</a:t>
            </a:r>
          </a:p>
        </p:txBody>
      </p:sp>
    </p:spTree>
    <p:extLst>
      <p:ext uri="{BB962C8B-B14F-4D97-AF65-F5344CB8AC3E}">
        <p14:creationId xmlns:p14="http://schemas.microsoft.com/office/powerpoint/2010/main" val="88328694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0C4CE844-20E0-4106-A10B-30C86B369B16}"/>
              </a:ext>
            </a:extLst>
          </p:cNvPr>
          <p:cNvSpPr>
            <a:spLocks xmlns:a="http://schemas.openxmlformats.org/drawingml/2006/main" noGrp="1"/>
          </p:cNvSpPr>
          <p:nvPr/>
        </p:nvSpPr>
        <p:spPr>
          <a:xfrm xmlns:a="http://schemas.openxmlformats.org/drawingml/2006/main">
            <a:off x="800100" y="609600"/>
            <a:ext cx="166878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a:solidFill>
                  <a:srgbClr val="10202E"/>
                </a:solidFill>
              </a:defRPr>
            </a:pPr>
            <a:r>
              <a:rPr sz="4050" b="1">
                <a:solidFill>
                  <a:srgbClr val="10202E"/>
                </a:solidFill>
              </a:rPr>
              <a:t>The data mixes market prices with semantic risk</a:t>
            </a:r>
          </a:p>
        </p:txBody>
      </p:sp>
      <p:sp>
        <p:nvSpPr>
          <p:cNvPr id="2" name="slide-subtitle">
            <a:extLst xmlns:a="http://schemas.openxmlformats.org/drawingml/2006/main">
              <a:ext uri="{FF2B5EF4-FFF2-40B4-BE49-F238E27FC236}">
                <a16:creationId xmlns:a16="http://schemas.microsoft.com/office/drawing/2014/main" id="{C74AA8AD-B5A0-4E27-B2ED-A959895EEFCA}"/>
              </a:ext>
            </a:extLst>
          </p:cNvPr>
          <p:cNvSpPr>
            <a:spLocks xmlns:a="http://schemas.openxmlformats.org/drawingml/2006/main" noGrp="1"/>
          </p:cNvSpPr>
          <p:nvPr/>
        </p:nvSpPr>
        <p:spPr>
          <a:xfrm xmlns:a="http://schemas.openxmlformats.org/drawingml/2006/main">
            <a:off x="800100" y="1333500"/>
            <a:ext cx="7486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5C6C7A"/>
                </a:solidFill>
              </a:defRPr>
            </a:pPr>
            <a:r>
              <a:rPr sz="1800">
                <a:solidFill>
                  <a:srgbClr val="5C6C7A"/>
                </a:solidFill>
              </a:rPr>
              <a:t>Coverage spans oil prices, GPR/news indices, events, and country-level exposure.</a:t>
            </a:r>
          </a:p>
        </p:txBody>
      </p:sp>
      <p:sp>
        <p:nvSpPr>
          <p:cNvPr id="3" name="">
            <a:extLst xmlns:a="http://schemas.openxmlformats.org/drawingml/2006/main">
              <a:ext uri="{FF2B5EF4-FFF2-40B4-BE49-F238E27FC236}">
                <a16:creationId xmlns:a16="http://schemas.microsoft.com/office/drawing/2014/main" id="{427230B6-0CAA-45BB-9615-0210C9F052D1}"/>
              </a:ext>
            </a:extLst>
          </p:cNvPr>
          <p:cNvSpPr>
            <a:spLocks xmlns:a="http://schemas.openxmlformats.org/drawingml/2006/main" noGrp="1"/>
          </p:cNvSpPr>
          <p:nvPr/>
        </p:nvSpPr>
        <p:spPr>
          <a:xfrm xmlns:a="http://schemas.openxmlformats.org/drawingml/2006/main">
            <a:off x="800100" y="2209800"/>
            <a:ext cx="25717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a:solidFill>
                  <a:srgbClr val="10202E"/>
                </a:solidFill>
              </a:defRPr>
            </a:pPr>
            <a:r>
              <a:rPr sz="1650" b="1">
                <a:solidFill>
                  <a:srgbClr val="10202E"/>
                </a:solidFill>
              </a:rPr>
              <a:t>ops_market_daily</a:t>
            </a:r>
          </a:p>
        </p:txBody>
      </p:sp>
      <p:sp>
        <p:nvSpPr>
          <p:cNvPr id="4" name="">
            <a:extLst xmlns:a="http://schemas.openxmlformats.org/drawingml/2006/main">
              <a:ext uri="{FF2B5EF4-FFF2-40B4-BE49-F238E27FC236}">
                <a16:creationId xmlns:a16="http://schemas.microsoft.com/office/drawing/2014/main" id="{58CA271B-E1F1-43BC-9A7C-9D24A9A200CA}"/>
              </a:ext>
            </a:extLst>
          </p:cNvPr>
          <p:cNvSpPr>
            <a:spLocks xmlns:a="http://schemas.openxmlformats.org/drawingml/2006/main" noGrp="1"/>
          </p:cNvSpPr>
          <p:nvPr/>
        </p:nvSpPr>
        <p:spPr>
          <a:xfrm xmlns:a="http://schemas.openxmlformats.org/drawingml/2006/main">
            <a:off x="3543300" y="2209800"/>
            <a:ext cx="16192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E5C8A"/>
                </a:solidFill>
              </a:defRPr>
            </a:pPr>
            <a:r>
              <a:rPr sz="1875" b="1">
                <a:solidFill>
                  <a:srgbClr val="1E5C8A"/>
                </a:solidFill>
              </a:rPr>
              <a:t>4,047</a:t>
            </a:r>
          </a:p>
        </p:txBody>
      </p:sp>
      <p:sp>
        <p:nvSpPr>
          <p:cNvPr id="5" name="">
            <a:extLst xmlns:a="http://schemas.openxmlformats.org/drawingml/2006/main">
              <a:ext uri="{FF2B5EF4-FFF2-40B4-BE49-F238E27FC236}">
                <a16:creationId xmlns:a16="http://schemas.microsoft.com/office/drawing/2014/main" id="{65927A7B-8DD4-4F6E-A4FE-B0562ED2BBE1}"/>
              </a:ext>
            </a:extLst>
          </p:cNvPr>
          <p:cNvSpPr>
            <a:spLocks xmlns:a="http://schemas.openxmlformats.org/drawingml/2006/main" noGrp="1"/>
          </p:cNvSpPr>
          <p:nvPr/>
        </p:nvSpPr>
        <p:spPr>
          <a:xfrm xmlns:a="http://schemas.openxmlformats.org/drawingml/2006/main">
            <a:off x="5334000" y="2209800"/>
            <a:ext cx="50101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5C6C7A"/>
                </a:solidFill>
              </a:defRPr>
            </a:pPr>
            <a:r>
              <a:rPr sz="1425">
                <a:solidFill>
                  <a:srgbClr val="5C6C7A"/>
                </a:solidFill>
              </a:rPr>
              <a:t>Daily Brent/WTI, macro indicators, volatility, lags, and events</a:t>
            </a:r>
          </a:p>
        </p:txBody>
      </p:sp>
      <p:sp>
        <p:nvSpPr>
          <p:cNvPr id="6" name="">
            <a:extLst xmlns:a="http://schemas.openxmlformats.org/drawingml/2006/main">
              <a:ext uri="{FF2B5EF4-FFF2-40B4-BE49-F238E27FC236}">
                <a16:creationId xmlns:a16="http://schemas.microsoft.com/office/drawing/2014/main" id="{7BC420EC-F87A-4DE7-A8AB-EAA15FB09AA7}"/>
              </a:ext>
            </a:extLst>
          </p:cNvPr>
          <p:cNvSpPr>
            <a:spLocks xmlns:a="http://schemas.openxmlformats.org/drawingml/2006/main" noGrp="1"/>
          </p:cNvSpPr>
          <p:nvPr/>
        </p:nvSpPr>
        <p:spPr>
          <a:xfrm xmlns:a="http://schemas.openxmlformats.org/drawingml/2006/main">
            <a:off x="800100" y="2686050"/>
            <a:ext cx="25717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a:solidFill>
                  <a:srgbClr val="10202E"/>
                </a:solidFill>
              </a:defRPr>
            </a:pPr>
            <a:r>
              <a:rPr sz="1650" b="1">
                <a:solidFill>
                  <a:srgbClr val="10202E"/>
                </a:solidFill>
              </a:rPr>
              <a:t>ops_gpr_daily</a:t>
            </a:r>
          </a:p>
        </p:txBody>
      </p:sp>
      <p:sp>
        <p:nvSpPr>
          <p:cNvPr id="7" name="">
            <a:extLst xmlns:a="http://schemas.openxmlformats.org/drawingml/2006/main">
              <a:ext uri="{FF2B5EF4-FFF2-40B4-BE49-F238E27FC236}">
                <a16:creationId xmlns:a16="http://schemas.microsoft.com/office/drawing/2014/main" id="{63A3D3DE-A592-4491-8B70-13105823DD4C}"/>
              </a:ext>
            </a:extLst>
          </p:cNvPr>
          <p:cNvSpPr>
            <a:spLocks xmlns:a="http://schemas.openxmlformats.org/drawingml/2006/main" noGrp="1"/>
          </p:cNvSpPr>
          <p:nvPr/>
        </p:nvSpPr>
        <p:spPr>
          <a:xfrm xmlns:a="http://schemas.openxmlformats.org/drawingml/2006/main">
            <a:off x="3543300" y="2686050"/>
            <a:ext cx="16192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F8A7B"/>
                </a:solidFill>
              </a:defRPr>
            </a:pPr>
            <a:r>
              <a:rPr sz="1875" b="1">
                <a:solidFill>
                  <a:srgbClr val="1F8A7B"/>
                </a:solidFill>
              </a:rPr>
              <a:t>15,078</a:t>
            </a:r>
          </a:p>
        </p:txBody>
      </p:sp>
      <p:sp>
        <p:nvSpPr>
          <p:cNvPr id="8" name="">
            <a:extLst xmlns:a="http://schemas.openxmlformats.org/drawingml/2006/main">
              <a:ext uri="{FF2B5EF4-FFF2-40B4-BE49-F238E27FC236}">
                <a16:creationId xmlns:a16="http://schemas.microsoft.com/office/drawing/2014/main" id="{89CFCA10-60BE-4006-AA09-689DDB185E99}"/>
              </a:ext>
            </a:extLst>
          </p:cNvPr>
          <p:cNvSpPr>
            <a:spLocks xmlns:a="http://schemas.openxmlformats.org/drawingml/2006/main" noGrp="1"/>
          </p:cNvSpPr>
          <p:nvPr/>
        </p:nvSpPr>
        <p:spPr>
          <a:xfrm xmlns:a="http://schemas.openxmlformats.org/drawingml/2006/main">
            <a:off x="5334000" y="2686050"/>
            <a:ext cx="50101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5C6C7A"/>
                </a:solidFill>
              </a:defRPr>
            </a:pPr>
            <a:r>
              <a:rPr sz="1425">
                <a:solidFill>
                  <a:srgbClr val="5C6C7A"/>
                </a:solidFill>
              </a:rPr>
              <a:t>Daily geopolitical risk/news index and article counts</a:t>
            </a:r>
          </a:p>
        </p:txBody>
      </p:sp>
      <p:sp>
        <p:nvSpPr>
          <p:cNvPr id="9" name="">
            <a:extLst xmlns:a="http://schemas.openxmlformats.org/drawingml/2006/main">
              <a:ext uri="{FF2B5EF4-FFF2-40B4-BE49-F238E27FC236}">
                <a16:creationId xmlns:a16="http://schemas.microsoft.com/office/drawing/2014/main" id="{71B954F5-692F-4C3E-80A9-AB1FFABE5C49}"/>
              </a:ext>
            </a:extLst>
          </p:cNvPr>
          <p:cNvSpPr>
            <a:spLocks xmlns:a="http://schemas.openxmlformats.org/drawingml/2006/main" noGrp="1"/>
          </p:cNvSpPr>
          <p:nvPr/>
        </p:nvSpPr>
        <p:spPr>
          <a:xfrm xmlns:a="http://schemas.openxmlformats.org/drawingml/2006/main">
            <a:off x="800100" y="3143250"/>
            <a:ext cx="25717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a:solidFill>
                  <a:srgbClr val="10202E"/>
                </a:solidFill>
              </a:defRPr>
            </a:pPr>
            <a:r>
              <a:rPr sz="1650" b="1">
                <a:solidFill>
                  <a:srgbClr val="10202E"/>
                </a:solidFill>
              </a:rPr>
              <a:t>ops_gpr_country_monthly</a:t>
            </a:r>
          </a:p>
        </p:txBody>
      </p:sp>
      <p:sp>
        <p:nvSpPr>
          <p:cNvPr id="10" name="">
            <a:extLst xmlns:a="http://schemas.openxmlformats.org/drawingml/2006/main">
              <a:ext uri="{FF2B5EF4-FFF2-40B4-BE49-F238E27FC236}">
                <a16:creationId xmlns:a16="http://schemas.microsoft.com/office/drawing/2014/main" id="{518FBCF8-D4D2-436B-8DD9-25D3B27568A1}"/>
              </a:ext>
            </a:extLst>
          </p:cNvPr>
          <p:cNvSpPr>
            <a:spLocks xmlns:a="http://schemas.openxmlformats.org/drawingml/2006/main" noGrp="1"/>
          </p:cNvSpPr>
          <p:nvPr/>
        </p:nvSpPr>
        <p:spPr>
          <a:xfrm xmlns:a="http://schemas.openxmlformats.org/drawingml/2006/main">
            <a:off x="3543300" y="3143250"/>
            <a:ext cx="16192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C58A1A"/>
                </a:solidFill>
              </a:defRPr>
            </a:pPr>
            <a:r>
              <a:rPr sz="1875" b="1">
                <a:solidFill>
                  <a:srgbClr val="C58A1A"/>
                </a:solidFill>
              </a:rPr>
              <a:t>66,660</a:t>
            </a:r>
          </a:p>
        </p:txBody>
      </p:sp>
      <p:sp>
        <p:nvSpPr>
          <p:cNvPr id="11" name="">
            <a:extLst xmlns:a="http://schemas.openxmlformats.org/drawingml/2006/main">
              <a:ext uri="{FF2B5EF4-FFF2-40B4-BE49-F238E27FC236}">
                <a16:creationId xmlns:a16="http://schemas.microsoft.com/office/drawing/2014/main" id="{9AFB1A93-4527-4F36-9ACB-F0E3286A9A1F}"/>
              </a:ext>
            </a:extLst>
          </p:cNvPr>
          <p:cNvSpPr>
            <a:spLocks xmlns:a="http://schemas.openxmlformats.org/drawingml/2006/main" noGrp="1"/>
          </p:cNvSpPr>
          <p:nvPr/>
        </p:nvSpPr>
        <p:spPr>
          <a:xfrm xmlns:a="http://schemas.openxmlformats.org/drawingml/2006/main">
            <a:off x="5334000" y="3143250"/>
            <a:ext cx="50101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5C6C7A"/>
                </a:solidFill>
              </a:defRPr>
            </a:pPr>
            <a:r>
              <a:rPr sz="1425">
                <a:solidFill>
                  <a:srgbClr val="5C6C7A"/>
                </a:solidFill>
              </a:rPr>
              <a:t>Country-month geopolitical risk measures</a:t>
            </a:r>
          </a:p>
        </p:txBody>
      </p:sp>
      <p:sp>
        <p:nvSpPr>
          <p:cNvPr id="12" name="">
            <a:extLst xmlns:a="http://schemas.openxmlformats.org/drawingml/2006/main">
              <a:ext uri="{FF2B5EF4-FFF2-40B4-BE49-F238E27FC236}">
                <a16:creationId xmlns:a16="http://schemas.microsoft.com/office/drawing/2014/main" id="{CA2CDC4E-29FB-410E-BF42-140FAA4FD585}"/>
              </a:ext>
            </a:extLst>
          </p:cNvPr>
          <p:cNvSpPr>
            <a:spLocks xmlns:a="http://schemas.openxmlformats.org/drawingml/2006/main" noGrp="1"/>
          </p:cNvSpPr>
          <p:nvPr/>
        </p:nvSpPr>
        <p:spPr>
          <a:xfrm xmlns:a="http://schemas.openxmlformats.org/drawingml/2006/main">
            <a:off x="800100" y="3619500"/>
            <a:ext cx="25717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a:solidFill>
                  <a:srgbClr val="10202E"/>
                </a:solidFill>
              </a:defRPr>
            </a:pPr>
            <a:r>
              <a:rPr sz="1650" b="1">
                <a:solidFill>
                  <a:srgbClr val="10202E"/>
                </a:solidFill>
              </a:rPr>
              <a:t>ops_events</a:t>
            </a:r>
          </a:p>
        </p:txBody>
      </p:sp>
      <p:sp>
        <p:nvSpPr>
          <p:cNvPr id="13" name="">
            <a:extLst xmlns:a="http://schemas.openxmlformats.org/drawingml/2006/main">
              <a:ext uri="{FF2B5EF4-FFF2-40B4-BE49-F238E27FC236}">
                <a16:creationId xmlns:a16="http://schemas.microsoft.com/office/drawing/2014/main" id="{DDD65342-EEE2-48C4-890E-B160738BF7F8}"/>
              </a:ext>
            </a:extLst>
          </p:cNvPr>
          <p:cNvSpPr>
            <a:spLocks xmlns:a="http://schemas.openxmlformats.org/drawingml/2006/main" noGrp="1"/>
          </p:cNvSpPr>
          <p:nvPr/>
        </p:nvSpPr>
        <p:spPr>
          <a:xfrm xmlns:a="http://schemas.openxmlformats.org/drawingml/2006/main">
            <a:off x="3543300" y="3619500"/>
            <a:ext cx="16192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B65B4B"/>
                </a:solidFill>
              </a:defRPr>
            </a:pPr>
            <a:r>
              <a:rPr sz="1875" b="1">
                <a:solidFill>
                  <a:srgbClr val="B65B4B"/>
                </a:solidFill>
              </a:rPr>
              <a:t>55</a:t>
            </a:r>
          </a:p>
        </p:txBody>
      </p:sp>
      <p:sp>
        <p:nvSpPr>
          <p:cNvPr id="14" name="">
            <a:extLst xmlns:a="http://schemas.openxmlformats.org/drawingml/2006/main">
              <a:ext uri="{FF2B5EF4-FFF2-40B4-BE49-F238E27FC236}">
                <a16:creationId xmlns:a16="http://schemas.microsoft.com/office/drawing/2014/main" id="{95DE8D7F-158E-40BF-BCEA-CB385B0E701D}"/>
              </a:ext>
            </a:extLst>
          </p:cNvPr>
          <p:cNvSpPr>
            <a:spLocks xmlns:a="http://schemas.openxmlformats.org/drawingml/2006/main" noGrp="1"/>
          </p:cNvSpPr>
          <p:nvPr/>
        </p:nvSpPr>
        <p:spPr>
          <a:xfrm xmlns:a="http://schemas.openxmlformats.org/drawingml/2006/main">
            <a:off x="5334000" y="3619500"/>
            <a:ext cx="50101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5C6C7A"/>
                </a:solidFill>
              </a:defRPr>
            </a:pPr>
            <a:r>
              <a:rPr sz="1425">
                <a:solidFill>
                  <a:srgbClr val="5C6C7A"/>
                </a:solidFill>
              </a:rPr>
              <a:t>Named geopolitical, sanctions, disaster, and market events</a:t>
            </a:r>
          </a:p>
        </p:txBody>
      </p:sp>
      <p:sp>
        <p:nvSpPr>
          <p:cNvPr id="15" name="">
            <a:extLst xmlns:a="http://schemas.openxmlformats.org/drawingml/2006/main">
              <a:ext uri="{FF2B5EF4-FFF2-40B4-BE49-F238E27FC236}">
                <a16:creationId xmlns:a16="http://schemas.microsoft.com/office/drawing/2014/main" id="{FF4CFD17-4FBB-43E7-B106-D4C9891E3441}"/>
              </a:ext>
            </a:extLst>
          </p:cNvPr>
          <p:cNvSpPr>
            <a:spLocks xmlns:a="http://schemas.openxmlformats.org/drawingml/2006/main" noGrp="1"/>
          </p:cNvSpPr>
          <p:nvPr/>
        </p:nvSpPr>
        <p:spPr>
          <a:xfrm xmlns:a="http://schemas.openxmlformats.org/drawingml/2006/main">
            <a:off x="800100" y="4076700"/>
            <a:ext cx="25717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a:solidFill>
                  <a:srgbClr val="10202E"/>
                </a:solidFill>
              </a:defRPr>
            </a:pPr>
            <a:r>
              <a:rPr sz="1650" b="1">
                <a:solidFill>
                  <a:srgbClr val="10202E"/>
                </a:solidFill>
              </a:rPr>
              <a:t>ops_countries</a:t>
            </a:r>
          </a:p>
        </p:txBody>
      </p:sp>
      <p:sp>
        <p:nvSpPr>
          <p:cNvPr id="16" name="">
            <a:extLst xmlns:a="http://schemas.openxmlformats.org/drawingml/2006/main">
              <a:ext uri="{FF2B5EF4-FFF2-40B4-BE49-F238E27FC236}">
                <a16:creationId xmlns:a16="http://schemas.microsoft.com/office/drawing/2014/main" id="{5EDC83DF-D53F-45D5-8CF0-9F51DB6CB786}"/>
              </a:ext>
            </a:extLst>
          </p:cNvPr>
          <p:cNvSpPr>
            <a:spLocks xmlns:a="http://schemas.openxmlformats.org/drawingml/2006/main" noGrp="1"/>
          </p:cNvSpPr>
          <p:nvPr/>
        </p:nvSpPr>
        <p:spPr>
          <a:xfrm xmlns:a="http://schemas.openxmlformats.org/drawingml/2006/main">
            <a:off x="3543300" y="4076700"/>
            <a:ext cx="16192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E5C8A"/>
                </a:solidFill>
              </a:defRPr>
            </a:pPr>
            <a:r>
              <a:rPr sz="1875" b="1">
                <a:solidFill>
                  <a:srgbClr val="1E5C8A"/>
                </a:solidFill>
              </a:rPr>
              <a:t>18</a:t>
            </a:r>
          </a:p>
        </p:txBody>
      </p:sp>
      <p:sp>
        <p:nvSpPr>
          <p:cNvPr id="17" name="">
            <a:extLst xmlns:a="http://schemas.openxmlformats.org/drawingml/2006/main">
              <a:ext uri="{FF2B5EF4-FFF2-40B4-BE49-F238E27FC236}">
                <a16:creationId xmlns:a16="http://schemas.microsoft.com/office/drawing/2014/main" id="{44C6618C-6C65-4634-85A3-F29D171E79FB}"/>
              </a:ext>
            </a:extLst>
          </p:cNvPr>
          <p:cNvSpPr>
            <a:spLocks xmlns:a="http://schemas.openxmlformats.org/drawingml/2006/main" noGrp="1"/>
          </p:cNvSpPr>
          <p:nvPr/>
        </p:nvSpPr>
        <p:spPr>
          <a:xfrm xmlns:a="http://schemas.openxmlformats.org/drawingml/2006/main">
            <a:off x="5334000" y="4076700"/>
            <a:ext cx="50101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5C6C7A"/>
                </a:solidFill>
              </a:defRPr>
            </a:pPr>
            <a:r>
              <a:rPr sz="1425">
                <a:solidFill>
                  <a:srgbClr val="5C6C7A"/>
                </a:solidFill>
              </a:rPr>
              <a:t>Country dimension for impact and petrol analysis</a:t>
            </a:r>
          </a:p>
        </p:txBody>
      </p:sp>
      <p:sp>
        <p:nvSpPr>
          <p:cNvPr id="18" name="">
            <a:extLst xmlns:a="http://schemas.openxmlformats.org/drawingml/2006/main">
              <a:ext uri="{FF2B5EF4-FFF2-40B4-BE49-F238E27FC236}">
                <a16:creationId xmlns:a16="http://schemas.microsoft.com/office/drawing/2014/main" id="{3B3417E2-C0F6-4267-A9E3-9F437BB25937}"/>
              </a:ext>
            </a:extLst>
          </p:cNvPr>
          <p:cNvSpPr>
            <a:spLocks xmlns:a="http://schemas.openxmlformats.org/drawingml/2006/main" noGrp="1"/>
          </p:cNvSpPr>
          <p:nvPr/>
        </p:nvSpPr>
        <p:spPr>
          <a:xfrm xmlns:a="http://schemas.openxmlformats.org/drawingml/2006/main">
            <a:off x="10858500" y="2209800"/>
            <a:ext cx="66294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E5C8A"/>
                </a:solidFill>
              </a:defRPr>
            </a:pPr>
            <a:r>
              <a:rPr sz="4350" b="1">
                <a:solidFill>
                  <a:srgbClr val="1E5C8A"/>
                </a:solidFill>
              </a:rPr>
              <a:t>2010-2026</a:t>
            </a:r>
          </a:p>
        </p:txBody>
      </p:sp>
      <p:sp>
        <p:nvSpPr>
          <p:cNvPr id="19" name="">
            <a:extLst xmlns:a="http://schemas.openxmlformats.org/drawingml/2006/main">
              <a:ext uri="{FF2B5EF4-FFF2-40B4-BE49-F238E27FC236}">
                <a16:creationId xmlns:a16="http://schemas.microsoft.com/office/drawing/2014/main" id="{4CB91C36-5A29-4634-8BF9-B5B8D70C22B1}"/>
              </a:ext>
            </a:extLst>
          </p:cNvPr>
          <p:cNvSpPr>
            <a:spLocks xmlns:a="http://schemas.openxmlformats.org/drawingml/2006/main" noGrp="1"/>
          </p:cNvSpPr>
          <p:nvPr/>
        </p:nvSpPr>
        <p:spPr>
          <a:xfrm xmlns:a="http://schemas.openxmlformats.org/drawingml/2006/main">
            <a:off x="10858500" y="2914650"/>
            <a:ext cx="66294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market table date span</a:t>
            </a:r>
          </a:p>
        </p:txBody>
      </p:sp>
      <p:sp>
        <p:nvSpPr>
          <p:cNvPr id="20" name="">
            <a:extLst xmlns:a="http://schemas.openxmlformats.org/drawingml/2006/main">
              <a:ext uri="{FF2B5EF4-FFF2-40B4-BE49-F238E27FC236}">
                <a16:creationId xmlns:a16="http://schemas.microsoft.com/office/drawing/2014/main" id="{1A1A229F-5D29-42BA-B1E6-E4923B1AD620}"/>
              </a:ext>
            </a:extLst>
          </p:cNvPr>
          <p:cNvSpPr>
            <a:spLocks xmlns:a="http://schemas.openxmlformats.org/drawingml/2006/main" noGrp="1"/>
          </p:cNvSpPr>
          <p:nvPr/>
        </p:nvSpPr>
        <p:spPr>
          <a:xfrm xmlns:a="http://schemas.openxmlformats.org/drawingml/2006/main">
            <a:off x="10858500" y="3390900"/>
            <a:ext cx="66294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F8A7B"/>
                </a:solidFill>
              </a:defRPr>
            </a:pPr>
            <a:r>
              <a:rPr sz="4350" b="1">
                <a:solidFill>
                  <a:srgbClr val="1F8A7B"/>
                </a:solidFill>
              </a:rPr>
              <a:t>1985-2026</a:t>
            </a:r>
          </a:p>
        </p:txBody>
      </p:sp>
      <p:sp>
        <p:nvSpPr>
          <p:cNvPr id="21" name="">
            <a:extLst xmlns:a="http://schemas.openxmlformats.org/drawingml/2006/main">
              <a:ext uri="{FF2B5EF4-FFF2-40B4-BE49-F238E27FC236}">
                <a16:creationId xmlns:a16="http://schemas.microsoft.com/office/drawing/2014/main" id="{AF2B46FE-B60D-4E72-A038-88CABAE62069}"/>
              </a:ext>
            </a:extLst>
          </p:cNvPr>
          <p:cNvSpPr>
            <a:spLocks xmlns:a="http://schemas.openxmlformats.org/drawingml/2006/main" noGrp="1"/>
          </p:cNvSpPr>
          <p:nvPr/>
        </p:nvSpPr>
        <p:spPr>
          <a:xfrm xmlns:a="http://schemas.openxmlformats.org/drawingml/2006/main">
            <a:off x="10858500" y="4095750"/>
            <a:ext cx="66294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daily GPR date span</a:t>
            </a:r>
          </a:p>
        </p:txBody>
      </p:sp>
      <p:sp>
        <p:nvSpPr>
          <p:cNvPr id="22" name="">
            <a:extLst xmlns:a="http://schemas.openxmlformats.org/drawingml/2006/main">
              <a:ext uri="{FF2B5EF4-FFF2-40B4-BE49-F238E27FC236}">
                <a16:creationId xmlns:a16="http://schemas.microsoft.com/office/drawing/2014/main" id="{3BD0FA6A-6F9E-4A5E-AE11-F530AD585BE5}"/>
              </a:ext>
            </a:extLst>
          </p:cNvPr>
          <p:cNvSpPr>
            <a:spLocks xmlns:a="http://schemas.openxmlformats.org/drawingml/2006/main" noGrp="1"/>
          </p:cNvSpPr>
          <p:nvPr/>
        </p:nvSpPr>
        <p:spPr>
          <a:xfrm xmlns:a="http://schemas.openxmlformats.org/drawingml/2006/main">
            <a:off x="10858500" y="4552950"/>
            <a:ext cx="6629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The modeling table already aligns Brent, WTI, volatility, GPR, event flags, and lag features for supervised learning.</a:t>
            </a:r>
          </a:p>
        </p:txBody>
      </p:sp>
    </p:spTree>
    <p:extLst>
      <p:ext uri="{BB962C8B-B14F-4D97-AF65-F5344CB8AC3E}">
        <p14:creationId xmlns:p14="http://schemas.microsoft.com/office/powerpoint/2010/main" val="16997339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FE96AD7A-1825-476F-9A22-C2B9D1CFB52C}"/>
              </a:ext>
            </a:extLst>
          </p:cNvPr>
          <p:cNvSpPr>
            <a:spLocks xmlns:a="http://schemas.openxmlformats.org/drawingml/2006/main" noGrp="1"/>
          </p:cNvSpPr>
          <p:nvPr/>
        </p:nvSpPr>
        <p:spPr>
          <a:xfrm xmlns:a="http://schemas.openxmlformats.org/drawingml/2006/main">
            <a:off x="800100" y="609600"/>
            <a:ext cx="166878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a:solidFill>
                  <a:srgbClr val="10202E"/>
                </a:solidFill>
              </a:defRPr>
            </a:pPr>
            <a:r>
              <a:rPr sz="4050" b="1">
                <a:solidFill>
                  <a:srgbClr val="10202E"/>
                </a:solidFill>
              </a:rPr>
              <a:t>Two database layers keep analysis flexible</a:t>
            </a:r>
          </a:p>
        </p:txBody>
      </p:sp>
      <p:sp>
        <p:nvSpPr>
          <p:cNvPr id="2" name="slide-subtitle">
            <a:extLst xmlns:a="http://schemas.openxmlformats.org/drawingml/2006/main">
              <a:ext uri="{FF2B5EF4-FFF2-40B4-BE49-F238E27FC236}">
                <a16:creationId xmlns:a16="http://schemas.microsoft.com/office/drawing/2014/main" id="{B726A986-5C7E-4F02-BF9C-6296D29EA4AC}"/>
              </a:ext>
            </a:extLst>
          </p:cNvPr>
          <p:cNvSpPr>
            <a:spLocks xmlns:a="http://schemas.openxmlformats.org/drawingml/2006/main" noGrp="1"/>
          </p:cNvSpPr>
          <p:nvPr/>
        </p:nvSpPr>
        <p:spPr>
          <a:xfrm xmlns:a="http://schemas.openxmlformats.org/drawingml/2006/main">
            <a:off x="800100" y="1333500"/>
            <a:ext cx="8191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5C6C7A"/>
                </a:solidFill>
              </a:defRPr>
            </a:pPr>
            <a:r>
              <a:rPr sz="1800">
                <a:solidFill>
                  <a:srgbClr val="5C6C7A"/>
                </a:solidFill>
              </a:rPr>
              <a:t>Operational tables preserve source shape; dimensional tables support BI-style reporting.</a:t>
            </a:r>
          </a:p>
        </p:txBody>
      </p:sp>
      <p:sp>
        <p:nvSpPr>
          <p:cNvPr id="3" name="">
            <a:extLst xmlns:a="http://schemas.openxmlformats.org/drawingml/2006/main">
              <a:ext uri="{FF2B5EF4-FFF2-40B4-BE49-F238E27FC236}">
                <a16:creationId xmlns:a16="http://schemas.microsoft.com/office/drawing/2014/main" id="{8CEA53E5-E873-4F43-AAB5-648AB0C5AC87}"/>
              </a:ext>
            </a:extLst>
          </p:cNvPr>
          <p:cNvSpPr>
            <a:spLocks xmlns:a="http://schemas.openxmlformats.org/drawingml/2006/main" noGrp="1"/>
          </p:cNvSpPr>
          <p:nvPr/>
        </p:nvSpPr>
        <p:spPr>
          <a:xfrm xmlns:a="http://schemas.openxmlformats.org/drawingml/2006/main">
            <a:off x="800100" y="1943100"/>
            <a:ext cx="813435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1E5C8A"/>
                </a:solidFill>
              </a:defRPr>
            </a:pPr>
            <a:r>
              <a:rPr sz="2550" b="1">
                <a:solidFill>
                  <a:srgbClr val="1E5C8A"/>
                </a:solidFill>
              </a:rPr>
              <a:t>Operational layer</a:t>
            </a:r>
          </a:p>
        </p:txBody>
      </p:sp>
      <p:sp>
        <p:nvSpPr>
          <p:cNvPr id="4" name="">
            <a:extLst xmlns:a="http://schemas.openxmlformats.org/drawingml/2006/main">
              <a:ext uri="{FF2B5EF4-FFF2-40B4-BE49-F238E27FC236}">
                <a16:creationId xmlns:a16="http://schemas.microsoft.com/office/drawing/2014/main" id="{ED6374B4-4923-4B9F-8E07-494EC9DA0000}"/>
              </a:ext>
            </a:extLst>
          </p:cNvPr>
          <p:cNvSpPr>
            <a:spLocks xmlns:a="http://schemas.openxmlformats.org/drawingml/2006/main" noGrp="1"/>
          </p:cNvSpPr>
          <p:nvPr/>
        </p:nvSpPr>
        <p:spPr>
          <a:xfrm xmlns:a="http://schemas.openxmlformats.org/drawingml/2006/main">
            <a:off x="800100" y="2495550"/>
            <a:ext cx="81343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ops_market_daily</a:t>
            </a:r>
          </a:p>
        </p:txBody>
      </p:sp>
      <p:sp>
        <p:nvSpPr>
          <p:cNvPr id="5" name="">
            <a:extLst xmlns:a="http://schemas.openxmlformats.org/drawingml/2006/main">
              <a:ext uri="{FF2B5EF4-FFF2-40B4-BE49-F238E27FC236}">
                <a16:creationId xmlns:a16="http://schemas.microsoft.com/office/drawing/2014/main" id="{3EFAF4B9-88D0-4BA9-8ED9-9E1347292CFC}"/>
              </a:ext>
            </a:extLst>
          </p:cNvPr>
          <p:cNvSpPr>
            <a:spLocks xmlns:a="http://schemas.openxmlformats.org/drawingml/2006/main" noGrp="1"/>
          </p:cNvSpPr>
          <p:nvPr/>
        </p:nvSpPr>
        <p:spPr>
          <a:xfrm xmlns:a="http://schemas.openxmlformats.org/drawingml/2006/main">
            <a:off x="800100" y="2933700"/>
            <a:ext cx="81343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ops_gpr_daily and monthly</a:t>
            </a:r>
          </a:p>
        </p:txBody>
      </p:sp>
      <p:sp>
        <p:nvSpPr>
          <p:cNvPr id="6" name="">
            <a:extLst xmlns:a="http://schemas.openxmlformats.org/drawingml/2006/main">
              <a:ext uri="{FF2B5EF4-FFF2-40B4-BE49-F238E27FC236}">
                <a16:creationId xmlns:a16="http://schemas.microsoft.com/office/drawing/2014/main" id="{F7CA45EC-5BEA-4C92-A2CC-A700A4F497E6}"/>
              </a:ext>
            </a:extLst>
          </p:cNvPr>
          <p:cNvSpPr>
            <a:spLocks xmlns:a="http://schemas.openxmlformats.org/drawingml/2006/main" noGrp="1"/>
          </p:cNvSpPr>
          <p:nvPr/>
        </p:nvSpPr>
        <p:spPr>
          <a:xfrm xmlns:a="http://schemas.openxmlformats.org/drawingml/2006/main">
            <a:off x="800100" y="3352800"/>
            <a:ext cx="81343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ops_events</a:t>
            </a:r>
          </a:p>
        </p:txBody>
      </p:sp>
      <p:sp>
        <p:nvSpPr>
          <p:cNvPr id="7" name="">
            <a:extLst xmlns:a="http://schemas.openxmlformats.org/drawingml/2006/main">
              <a:ext uri="{FF2B5EF4-FFF2-40B4-BE49-F238E27FC236}">
                <a16:creationId xmlns:a16="http://schemas.microsoft.com/office/drawing/2014/main" id="{7FE2B1AB-AE74-49A4-8FE6-678E3AACF5D0}"/>
              </a:ext>
            </a:extLst>
          </p:cNvPr>
          <p:cNvSpPr>
            <a:spLocks xmlns:a="http://schemas.openxmlformats.org/drawingml/2006/main" noGrp="1"/>
          </p:cNvSpPr>
          <p:nvPr/>
        </p:nvSpPr>
        <p:spPr>
          <a:xfrm xmlns:a="http://schemas.openxmlformats.org/drawingml/2006/main">
            <a:off x="800100" y="3771900"/>
            <a:ext cx="81343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ops_countries and petrol snapshots</a:t>
            </a:r>
          </a:p>
        </p:txBody>
      </p:sp>
      <p:sp>
        <p:nvSpPr>
          <p:cNvPr id="8" name="">
            <a:extLst xmlns:a="http://schemas.openxmlformats.org/drawingml/2006/main">
              <a:ext uri="{FF2B5EF4-FFF2-40B4-BE49-F238E27FC236}">
                <a16:creationId xmlns:a16="http://schemas.microsoft.com/office/drawing/2014/main" id="{B77216F0-16B7-4CBC-9384-67C9637F3355}"/>
              </a:ext>
            </a:extLst>
          </p:cNvPr>
          <p:cNvSpPr>
            <a:spLocks xmlns:a="http://schemas.openxmlformats.org/drawingml/2006/main" noGrp="1"/>
          </p:cNvSpPr>
          <p:nvPr/>
        </p:nvSpPr>
        <p:spPr>
          <a:xfrm xmlns:a="http://schemas.openxmlformats.org/drawingml/2006/main">
            <a:off x="9372600" y="1943100"/>
            <a:ext cx="813435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1F8A7B"/>
                </a:solidFill>
              </a:defRPr>
            </a:pPr>
            <a:r>
              <a:rPr sz="2550" b="1">
                <a:solidFill>
                  <a:srgbClr val="1F8A7B"/>
                </a:solidFill>
              </a:rPr>
              <a:t>Dimensional layer</a:t>
            </a:r>
          </a:p>
        </p:txBody>
      </p:sp>
      <p:sp>
        <p:nvSpPr>
          <p:cNvPr id="9" name="">
            <a:extLst xmlns:a="http://schemas.openxmlformats.org/drawingml/2006/main">
              <a:ext uri="{FF2B5EF4-FFF2-40B4-BE49-F238E27FC236}">
                <a16:creationId xmlns:a16="http://schemas.microsoft.com/office/drawing/2014/main" id="{E16A7B48-0A09-46C4-A19A-539D6CA2CE45}"/>
              </a:ext>
            </a:extLst>
          </p:cNvPr>
          <p:cNvSpPr>
            <a:spLocks xmlns:a="http://schemas.openxmlformats.org/drawingml/2006/main" noGrp="1"/>
          </p:cNvSpPr>
          <p:nvPr/>
        </p:nvSpPr>
        <p:spPr>
          <a:xfrm xmlns:a="http://schemas.openxmlformats.org/drawingml/2006/main">
            <a:off x="9372600" y="2495550"/>
            <a:ext cx="81343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dim_date, dim_country, dim_event</a:t>
            </a:r>
          </a:p>
        </p:txBody>
      </p:sp>
      <p:sp>
        <p:nvSpPr>
          <p:cNvPr id="10" name="">
            <a:extLst xmlns:a="http://schemas.openxmlformats.org/drawingml/2006/main">
              <a:ext uri="{FF2B5EF4-FFF2-40B4-BE49-F238E27FC236}">
                <a16:creationId xmlns:a16="http://schemas.microsoft.com/office/drawing/2014/main" id="{E587B94A-A016-468C-A882-F2843F00278A}"/>
              </a:ext>
            </a:extLst>
          </p:cNvPr>
          <p:cNvSpPr>
            <a:spLocks xmlns:a="http://schemas.openxmlformats.org/drawingml/2006/main" noGrp="1"/>
          </p:cNvSpPr>
          <p:nvPr/>
        </p:nvSpPr>
        <p:spPr>
          <a:xfrm xmlns:a="http://schemas.openxmlformats.org/drawingml/2006/main">
            <a:off x="9372600" y="2933700"/>
            <a:ext cx="81343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fact_market_daily</a:t>
            </a:r>
          </a:p>
        </p:txBody>
      </p:sp>
      <p:sp>
        <p:nvSpPr>
          <p:cNvPr id="11" name="">
            <a:extLst xmlns:a="http://schemas.openxmlformats.org/drawingml/2006/main">
              <a:ext uri="{FF2B5EF4-FFF2-40B4-BE49-F238E27FC236}">
                <a16:creationId xmlns:a16="http://schemas.microsoft.com/office/drawing/2014/main" id="{97FC2EA7-D93E-4D77-9970-80CD8FFD23D7}"/>
              </a:ext>
            </a:extLst>
          </p:cNvPr>
          <p:cNvSpPr>
            <a:spLocks xmlns:a="http://schemas.openxmlformats.org/drawingml/2006/main" noGrp="1"/>
          </p:cNvSpPr>
          <p:nvPr/>
        </p:nvSpPr>
        <p:spPr>
          <a:xfrm xmlns:a="http://schemas.openxmlformats.org/drawingml/2006/main">
            <a:off x="9372600" y="3352800"/>
            <a:ext cx="81343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fact_gpr_daily and monthly</a:t>
            </a:r>
          </a:p>
        </p:txBody>
      </p:sp>
      <p:sp>
        <p:nvSpPr>
          <p:cNvPr id="12" name="">
            <a:extLst xmlns:a="http://schemas.openxmlformats.org/drawingml/2006/main">
              <a:ext uri="{FF2B5EF4-FFF2-40B4-BE49-F238E27FC236}">
                <a16:creationId xmlns:a16="http://schemas.microsoft.com/office/drawing/2014/main" id="{703BEEB9-70DC-4217-8718-2CB818A024FC}"/>
              </a:ext>
            </a:extLst>
          </p:cNvPr>
          <p:cNvSpPr>
            <a:spLocks xmlns:a="http://schemas.openxmlformats.org/drawingml/2006/main" noGrp="1"/>
          </p:cNvSpPr>
          <p:nvPr/>
        </p:nvSpPr>
        <p:spPr>
          <a:xfrm xmlns:a="http://schemas.openxmlformats.org/drawingml/2006/main">
            <a:off x="9372600" y="3771900"/>
            <a:ext cx="81343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fact_country_impact and petrol prices</a:t>
            </a:r>
          </a:p>
        </p:txBody>
      </p:sp>
      <p:sp>
        <p:nvSpPr>
          <p:cNvPr id="13" name="">
            <a:extLst xmlns:a="http://schemas.openxmlformats.org/drawingml/2006/main">
              <a:ext uri="{FF2B5EF4-FFF2-40B4-BE49-F238E27FC236}">
                <a16:creationId xmlns:a16="http://schemas.microsoft.com/office/drawing/2014/main" id="{D5CF6DEB-B113-4918-BACA-7A71E721E492}"/>
              </a:ext>
            </a:extLst>
          </p:cNvPr>
          <p:cNvSpPr>
            <a:spLocks xmlns:a="http://schemas.openxmlformats.org/drawingml/2006/main" noGrp="1"/>
          </p:cNvSpPr>
          <p:nvPr/>
        </p:nvSpPr>
        <p:spPr>
          <a:xfrm xmlns:a="http://schemas.openxmlformats.org/drawingml/2006/main">
            <a:off x="800100" y="9353550"/>
            <a:ext cx="166878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10202E"/>
                </a:solidFill>
              </a:defRPr>
            </a:pPr>
            <a:r>
              <a:rPr sz="2100" b="1">
                <a:solidFill>
                  <a:srgbClr val="10202E"/>
                </a:solidFill>
              </a:rPr>
              <a:t>Primary joins: market_date = gpr_date, market_date = event_date, country_id, and iso3.</a:t>
            </a:r>
          </a:p>
        </p:txBody>
      </p:sp>
    </p:spTree>
    <p:extLst>
      <p:ext uri="{BB962C8B-B14F-4D97-AF65-F5344CB8AC3E}">
        <p14:creationId xmlns:p14="http://schemas.microsoft.com/office/powerpoint/2010/main" val="110831491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8B37EEF5-48FE-4969-AD8E-81C2854259B7}"/>
              </a:ext>
            </a:extLst>
          </p:cNvPr>
          <p:cNvSpPr>
            <a:spLocks xmlns:a="http://schemas.openxmlformats.org/drawingml/2006/main" noGrp="1"/>
          </p:cNvSpPr>
          <p:nvPr/>
        </p:nvSpPr>
        <p:spPr>
          <a:xfrm xmlns:a="http://schemas.openxmlformats.org/drawingml/2006/main">
            <a:off x="800100" y="609600"/>
            <a:ext cx="166878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a:solidFill>
                  <a:srgbClr val="10202E"/>
                </a:solidFill>
              </a:defRPr>
            </a:pPr>
            <a:r>
              <a:rPr sz="4050" b="1">
                <a:solidFill>
                  <a:srgbClr val="10202E"/>
                </a:solidFill>
              </a:rPr>
              <a:t>Views turn raw tables into analysis surfaces</a:t>
            </a:r>
          </a:p>
        </p:txBody>
      </p:sp>
      <p:sp>
        <p:nvSpPr>
          <p:cNvPr id="2" name="slide-subtitle">
            <a:extLst xmlns:a="http://schemas.openxmlformats.org/drawingml/2006/main">
              <a:ext uri="{FF2B5EF4-FFF2-40B4-BE49-F238E27FC236}">
                <a16:creationId xmlns:a16="http://schemas.microsoft.com/office/drawing/2014/main" id="{3613807A-ADFA-48ED-9D10-A92445F30746}"/>
              </a:ext>
            </a:extLst>
          </p:cNvPr>
          <p:cNvSpPr>
            <a:spLocks xmlns:a="http://schemas.openxmlformats.org/drawingml/2006/main" noGrp="1"/>
          </p:cNvSpPr>
          <p:nvPr/>
        </p:nvSpPr>
        <p:spPr>
          <a:xfrm xmlns:a="http://schemas.openxmlformats.org/drawingml/2006/main">
            <a:off x="800100" y="1333500"/>
            <a:ext cx="9391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5C6C7A"/>
                </a:solidFill>
              </a:defRPr>
            </a:pPr>
            <a:r>
              <a:rPr sz="1800">
                <a:solidFill>
                  <a:srgbClr val="5C6C7A"/>
                </a:solidFill>
              </a:rPr>
              <a:t>Three MySQL views package the joins needed for modeling, event study, and country impact analysis.</a:t>
            </a:r>
          </a:p>
        </p:txBody>
      </p:sp>
      <p:sp>
        <p:nvSpPr>
          <p:cNvPr id="3" name="">
            <a:extLst xmlns:a="http://schemas.openxmlformats.org/drawingml/2006/main">
              <a:ext uri="{FF2B5EF4-FFF2-40B4-BE49-F238E27FC236}">
                <a16:creationId xmlns:a16="http://schemas.microsoft.com/office/drawing/2014/main" id="{BBBFC62C-EE95-4B78-87F0-3319071710FA}"/>
              </a:ext>
            </a:extLst>
          </p:cNvPr>
          <p:cNvSpPr>
            <a:spLocks xmlns:a="http://schemas.openxmlformats.org/drawingml/2006/main" noGrp="1"/>
          </p:cNvSpPr>
          <p:nvPr/>
        </p:nvSpPr>
        <p:spPr>
          <a:xfrm xmlns:a="http://schemas.openxmlformats.org/drawingml/2006/main">
            <a:off x="800100" y="2209800"/>
            <a:ext cx="53530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E5C8A"/>
                </a:solidFill>
              </a:defRPr>
            </a:pPr>
            <a:r>
              <a:rPr sz="2250" b="1">
                <a:solidFill>
                  <a:srgbClr val="1E5C8A"/>
                </a:solidFill>
              </a:rPr>
              <a:t>vw_daily_oil_news_features</a:t>
            </a:r>
          </a:p>
        </p:txBody>
      </p:sp>
      <p:sp>
        <p:nvSpPr>
          <p:cNvPr id="4" name="">
            <a:extLst xmlns:a="http://schemas.openxmlformats.org/drawingml/2006/main">
              <a:ext uri="{FF2B5EF4-FFF2-40B4-BE49-F238E27FC236}">
                <a16:creationId xmlns:a16="http://schemas.microsoft.com/office/drawing/2014/main" id="{367809F0-616B-4888-97F7-12289D49AB66}"/>
              </a:ext>
            </a:extLst>
          </p:cNvPr>
          <p:cNvSpPr>
            <a:spLocks xmlns:a="http://schemas.openxmlformats.org/drawingml/2006/main" noGrp="1"/>
          </p:cNvSpPr>
          <p:nvPr/>
        </p:nvSpPr>
        <p:spPr>
          <a:xfrm xmlns:a="http://schemas.openxmlformats.org/drawingml/2006/main">
            <a:off x="800100" y="2724150"/>
            <a:ext cx="53530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Daily Brent/WTI, GPR, event, and volatility features for analysis and model inputs.</a:t>
            </a:r>
          </a:p>
        </p:txBody>
      </p:sp>
      <p:sp>
        <p:nvSpPr>
          <p:cNvPr id="5" name="">
            <a:extLst xmlns:a="http://schemas.openxmlformats.org/drawingml/2006/main">
              <a:ext uri="{FF2B5EF4-FFF2-40B4-BE49-F238E27FC236}">
                <a16:creationId xmlns:a16="http://schemas.microsoft.com/office/drawing/2014/main" id="{D57F8E25-C25F-444E-BD8A-2204B7D0F0B3}"/>
              </a:ext>
            </a:extLst>
          </p:cNvPr>
          <p:cNvSpPr>
            <a:spLocks xmlns:a="http://schemas.openxmlformats.org/drawingml/2006/main" noGrp="1"/>
          </p:cNvSpPr>
          <p:nvPr/>
        </p:nvSpPr>
        <p:spPr>
          <a:xfrm xmlns:a="http://schemas.openxmlformats.org/drawingml/2006/main">
            <a:off x="6477000" y="2209800"/>
            <a:ext cx="53530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F8A7B"/>
                </a:solidFill>
              </a:defRPr>
            </a:pPr>
            <a:r>
              <a:rPr sz="2250" b="1">
                <a:solidFill>
                  <a:srgbClr val="1F8A7B"/>
                </a:solidFill>
              </a:rPr>
              <a:t>vw_event_price_reaction</a:t>
            </a:r>
          </a:p>
        </p:txBody>
      </p:sp>
      <p:sp>
        <p:nvSpPr>
          <p:cNvPr id="6" name="">
            <a:extLst xmlns:a="http://schemas.openxmlformats.org/drawingml/2006/main">
              <a:ext uri="{FF2B5EF4-FFF2-40B4-BE49-F238E27FC236}">
                <a16:creationId xmlns:a16="http://schemas.microsoft.com/office/drawing/2014/main" id="{9B7B5542-EE89-4222-8CDC-7226EB82E25C}"/>
              </a:ext>
            </a:extLst>
          </p:cNvPr>
          <p:cNvSpPr>
            <a:spLocks xmlns:a="http://schemas.openxmlformats.org/drawingml/2006/main" noGrp="1"/>
          </p:cNvSpPr>
          <p:nvPr/>
        </p:nvSpPr>
        <p:spPr>
          <a:xfrm xmlns:a="http://schemas.openxmlformats.org/drawingml/2006/main">
            <a:off x="6477000" y="2724150"/>
            <a:ext cx="53530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Event-date oil price and risk indicators to inspect geopolitical market reactions.</a:t>
            </a:r>
          </a:p>
        </p:txBody>
      </p:sp>
      <p:sp>
        <p:nvSpPr>
          <p:cNvPr id="7" name="">
            <a:extLst xmlns:a="http://schemas.openxmlformats.org/drawingml/2006/main">
              <a:ext uri="{FF2B5EF4-FFF2-40B4-BE49-F238E27FC236}">
                <a16:creationId xmlns:a16="http://schemas.microsoft.com/office/drawing/2014/main" id="{AF3CA12B-68D1-4547-87F6-13FE628531C0}"/>
              </a:ext>
            </a:extLst>
          </p:cNvPr>
          <p:cNvSpPr>
            <a:spLocks xmlns:a="http://schemas.openxmlformats.org/drawingml/2006/main" noGrp="1"/>
          </p:cNvSpPr>
          <p:nvPr/>
        </p:nvSpPr>
        <p:spPr>
          <a:xfrm xmlns:a="http://schemas.openxmlformats.org/drawingml/2006/main">
            <a:off x="12134850" y="2209800"/>
            <a:ext cx="53530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C58A1A"/>
                </a:solidFill>
              </a:defRPr>
            </a:pPr>
            <a:r>
              <a:rPr sz="2250" b="1">
                <a:solidFill>
                  <a:srgbClr val="C58A1A"/>
                </a:solidFill>
              </a:rPr>
              <a:t>vw_country_petrol_impact</a:t>
            </a:r>
          </a:p>
        </p:txBody>
      </p:sp>
      <p:sp>
        <p:nvSpPr>
          <p:cNvPr id="8" name="">
            <a:extLst xmlns:a="http://schemas.openxmlformats.org/drawingml/2006/main">
              <a:ext uri="{FF2B5EF4-FFF2-40B4-BE49-F238E27FC236}">
                <a16:creationId xmlns:a16="http://schemas.microsoft.com/office/drawing/2014/main" id="{E9F28501-01B4-4AFA-BD8A-E4F11006231D}"/>
              </a:ext>
            </a:extLst>
          </p:cNvPr>
          <p:cNvSpPr>
            <a:spLocks xmlns:a="http://schemas.openxmlformats.org/drawingml/2006/main" noGrp="1"/>
          </p:cNvSpPr>
          <p:nvPr/>
        </p:nvSpPr>
        <p:spPr>
          <a:xfrm xmlns:a="http://schemas.openxmlformats.org/drawingml/2006/main">
            <a:off x="12134850" y="2724150"/>
            <a:ext cx="53530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Country exposure, petrol price snapshots, and vulnerability indicators in one reporting surface.</a:t>
            </a:r>
          </a:p>
        </p:txBody>
      </p:sp>
    </p:spTree>
    <p:extLst>
      <p:ext uri="{BB962C8B-B14F-4D97-AF65-F5344CB8AC3E}">
        <p14:creationId xmlns:p14="http://schemas.microsoft.com/office/powerpoint/2010/main" val="187108494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B902B89E-CE4E-425D-A825-48D95EE5E258}"/>
              </a:ext>
            </a:extLst>
          </p:cNvPr>
          <p:cNvSpPr>
            <a:spLocks xmlns:a="http://schemas.openxmlformats.org/drawingml/2006/main" noGrp="1"/>
          </p:cNvSpPr>
          <p:nvPr/>
        </p:nvSpPr>
        <p:spPr>
          <a:xfrm xmlns:a="http://schemas.openxmlformats.org/drawingml/2006/main">
            <a:off x="800100" y="609600"/>
            <a:ext cx="7277100" cy="1238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a:solidFill>
                  <a:srgbClr val="10202E"/>
                </a:solidFill>
              </a:defRPr>
            </a:pPr>
            <a:r>
              <a:rPr sz="4050" b="1">
                <a:solidFill>
                  <a:srgbClr val="10202E"/>
                </a:solidFill>
              </a:rPr>
              <a:t>A transparent scikit-learn model predicts next-day Brent</a:t>
            </a:r>
          </a:p>
        </p:txBody>
      </p:sp>
      <p:sp>
        <p:nvSpPr>
          <p:cNvPr id="2" name="slide-subtitle">
            <a:extLst xmlns:a="http://schemas.openxmlformats.org/drawingml/2006/main">
              <a:ext uri="{FF2B5EF4-FFF2-40B4-BE49-F238E27FC236}">
                <a16:creationId xmlns:a16="http://schemas.microsoft.com/office/drawing/2014/main" id="{54D547C0-8999-44FD-B981-44E2BE3C4131}"/>
              </a:ext>
            </a:extLst>
          </p:cNvPr>
          <p:cNvSpPr>
            <a:spLocks xmlns:a="http://schemas.openxmlformats.org/drawingml/2006/main" noGrp="1"/>
          </p:cNvSpPr>
          <p:nvPr/>
        </p:nvSpPr>
        <p:spPr>
          <a:xfrm xmlns:a="http://schemas.openxmlformats.org/drawingml/2006/main">
            <a:off x="800100" y="1962150"/>
            <a:ext cx="83248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5C6C7A"/>
                </a:solidFill>
              </a:defRPr>
            </a:pPr>
            <a:r>
              <a:rPr sz="1800">
                <a:solidFill>
                  <a:srgbClr val="5C6C7A"/>
                </a:solidFill>
              </a:rPr>
              <a:t>The model is deliberately interpretable and reproducible for a database project showcase.</a:t>
            </a:r>
          </a:p>
        </p:txBody>
      </p:sp>
      <p:sp>
        <p:nvSpPr>
          <p:cNvPr id="3" name="">
            <a:extLst xmlns:a="http://schemas.openxmlformats.org/drawingml/2006/main">
              <a:ext uri="{FF2B5EF4-FFF2-40B4-BE49-F238E27FC236}">
                <a16:creationId xmlns:a16="http://schemas.microsoft.com/office/drawing/2014/main" id="{4CAD09BB-649D-4A99-9CA1-94EA5A15C02A}"/>
              </a:ext>
            </a:extLst>
          </p:cNvPr>
          <p:cNvSpPr>
            <a:spLocks xmlns:a="http://schemas.openxmlformats.org/drawingml/2006/main" noGrp="1"/>
          </p:cNvSpPr>
          <p:nvPr/>
        </p:nvSpPr>
        <p:spPr>
          <a:xfrm xmlns:a="http://schemas.openxmlformats.org/drawingml/2006/main">
            <a:off x="8591550" y="609600"/>
            <a:ext cx="889635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1E5C8A"/>
                </a:solidFill>
              </a:defRPr>
            </a:pPr>
            <a:r>
              <a:rPr sz="2550" b="1">
                <a:solidFill>
                  <a:srgbClr val="1E5C8A"/>
                </a:solidFill>
              </a:rPr>
              <a:t>3,236</a:t>
            </a:r>
          </a:p>
        </p:txBody>
      </p:sp>
      <p:sp>
        <p:nvSpPr>
          <p:cNvPr id="4" name="">
            <a:extLst xmlns:a="http://schemas.openxmlformats.org/drawingml/2006/main">
              <a:ext uri="{FF2B5EF4-FFF2-40B4-BE49-F238E27FC236}">
                <a16:creationId xmlns:a16="http://schemas.microsoft.com/office/drawing/2014/main" id="{2C431611-FDF5-4624-9011-D01FF4369B37}"/>
              </a:ext>
            </a:extLst>
          </p:cNvPr>
          <p:cNvSpPr>
            <a:spLocks xmlns:a="http://schemas.openxmlformats.org/drawingml/2006/main" noGrp="1"/>
          </p:cNvSpPr>
          <p:nvPr/>
        </p:nvSpPr>
        <p:spPr>
          <a:xfrm xmlns:a="http://schemas.openxmlformats.org/drawingml/2006/main">
            <a:off x="8591550" y="1009650"/>
            <a:ext cx="88963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5C6C7A"/>
                </a:solidFill>
              </a:defRPr>
            </a:pPr>
            <a:r>
              <a:rPr sz="1125">
                <a:solidFill>
                  <a:srgbClr val="5C6C7A"/>
                </a:solidFill>
              </a:rPr>
              <a:t>training rows</a:t>
            </a:r>
          </a:p>
        </p:txBody>
      </p:sp>
      <p:sp>
        <p:nvSpPr>
          <p:cNvPr id="5" name="">
            <a:extLst xmlns:a="http://schemas.openxmlformats.org/drawingml/2006/main">
              <a:ext uri="{FF2B5EF4-FFF2-40B4-BE49-F238E27FC236}">
                <a16:creationId xmlns:a16="http://schemas.microsoft.com/office/drawing/2014/main" id="{2FB6E6A6-E690-446E-9421-C2247498A4C3}"/>
              </a:ext>
            </a:extLst>
          </p:cNvPr>
          <p:cNvSpPr>
            <a:spLocks xmlns:a="http://schemas.openxmlformats.org/drawingml/2006/main" noGrp="1"/>
          </p:cNvSpPr>
          <p:nvPr/>
        </p:nvSpPr>
        <p:spPr>
          <a:xfrm xmlns:a="http://schemas.openxmlformats.org/drawingml/2006/main">
            <a:off x="8591550" y="1276350"/>
            <a:ext cx="889635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1F8A7B"/>
                </a:solidFill>
              </a:defRPr>
            </a:pPr>
            <a:r>
              <a:rPr sz="2550" b="1">
                <a:solidFill>
                  <a:srgbClr val="1F8A7B"/>
                </a:solidFill>
              </a:rPr>
              <a:t>810</a:t>
            </a:r>
          </a:p>
        </p:txBody>
      </p:sp>
      <p:sp>
        <p:nvSpPr>
          <p:cNvPr id="6" name="">
            <a:extLst xmlns:a="http://schemas.openxmlformats.org/drawingml/2006/main">
              <a:ext uri="{FF2B5EF4-FFF2-40B4-BE49-F238E27FC236}">
                <a16:creationId xmlns:a16="http://schemas.microsoft.com/office/drawing/2014/main" id="{24FF6871-458A-453F-966B-8B1181ADE1DA}"/>
              </a:ext>
            </a:extLst>
          </p:cNvPr>
          <p:cNvSpPr>
            <a:spLocks xmlns:a="http://schemas.openxmlformats.org/drawingml/2006/main" noGrp="1"/>
          </p:cNvSpPr>
          <p:nvPr/>
        </p:nvSpPr>
        <p:spPr>
          <a:xfrm xmlns:a="http://schemas.openxmlformats.org/drawingml/2006/main">
            <a:off x="8591550" y="1695450"/>
            <a:ext cx="88963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5C6C7A"/>
                </a:solidFill>
              </a:defRPr>
            </a:pPr>
            <a:r>
              <a:rPr sz="1125">
                <a:solidFill>
                  <a:srgbClr val="5C6C7A"/>
                </a:solidFill>
              </a:rPr>
              <a:t>test rows</a:t>
            </a:r>
          </a:p>
        </p:txBody>
      </p:sp>
      <p:sp>
        <p:nvSpPr>
          <p:cNvPr id="7" name="">
            <a:extLst xmlns:a="http://schemas.openxmlformats.org/drawingml/2006/main">
              <a:ext uri="{FF2B5EF4-FFF2-40B4-BE49-F238E27FC236}">
                <a16:creationId xmlns:a16="http://schemas.microsoft.com/office/drawing/2014/main" id="{F934F878-E871-4389-9929-8217E34620BA}"/>
              </a:ext>
            </a:extLst>
          </p:cNvPr>
          <p:cNvSpPr>
            <a:spLocks xmlns:a="http://schemas.openxmlformats.org/drawingml/2006/main" noGrp="1"/>
          </p:cNvSpPr>
          <p:nvPr/>
        </p:nvSpPr>
        <p:spPr>
          <a:xfrm xmlns:a="http://schemas.openxmlformats.org/drawingml/2006/main">
            <a:off x="8591550" y="1962150"/>
            <a:ext cx="889635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C58A1A"/>
                </a:solidFill>
              </a:defRPr>
            </a:pPr>
            <a:r>
              <a:rPr sz="2550" b="1">
                <a:solidFill>
                  <a:srgbClr val="C58A1A"/>
                </a:solidFill>
              </a:rPr>
              <a:t>0.1</a:t>
            </a:r>
          </a:p>
        </p:txBody>
      </p:sp>
      <p:sp>
        <p:nvSpPr>
          <p:cNvPr id="8" name="">
            <a:extLst xmlns:a="http://schemas.openxmlformats.org/drawingml/2006/main">
              <a:ext uri="{FF2B5EF4-FFF2-40B4-BE49-F238E27FC236}">
                <a16:creationId xmlns:a16="http://schemas.microsoft.com/office/drawing/2014/main" id="{0D6D5EAD-AB19-4211-B78D-AD405EE3D2CC}"/>
              </a:ext>
            </a:extLst>
          </p:cNvPr>
          <p:cNvSpPr>
            <a:spLocks xmlns:a="http://schemas.openxmlformats.org/drawingml/2006/main" noGrp="1"/>
          </p:cNvSpPr>
          <p:nvPr/>
        </p:nvSpPr>
        <p:spPr>
          <a:xfrm xmlns:a="http://schemas.openxmlformats.org/drawingml/2006/main">
            <a:off x="8591550" y="2362200"/>
            <a:ext cx="88963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5C6C7A"/>
                </a:solidFill>
              </a:defRPr>
            </a:pPr>
            <a:r>
              <a:rPr sz="1125">
                <a:solidFill>
                  <a:srgbClr val="5C6C7A"/>
                </a:solidFill>
              </a:rPr>
              <a:t>Ridge alpha</a:t>
            </a:r>
          </a:p>
        </p:txBody>
      </p:sp>
      <p:sp>
        <p:nvSpPr>
          <p:cNvPr id="9" name="">
            <a:extLst xmlns:a="http://schemas.openxmlformats.org/drawingml/2006/main">
              <a:ext uri="{FF2B5EF4-FFF2-40B4-BE49-F238E27FC236}">
                <a16:creationId xmlns:a16="http://schemas.microsoft.com/office/drawing/2014/main" id="{94882C56-E07B-47C7-B0AE-B4E5764D4D8E}"/>
              </a:ext>
            </a:extLst>
          </p:cNvPr>
          <p:cNvSpPr>
            <a:spLocks xmlns:a="http://schemas.openxmlformats.org/drawingml/2006/main" noGrp="1"/>
          </p:cNvSpPr>
          <p:nvPr/>
        </p:nvSpPr>
        <p:spPr>
          <a:xfrm xmlns:a="http://schemas.openxmlformats.org/drawingml/2006/main">
            <a:off x="800100" y="2861310"/>
            <a:ext cx="552450" cy="552450"/>
          </a:xfrm>
          <a:prstGeom xmlns:a="http://schemas.openxmlformats.org/drawingml/2006/main" prst="roundRect">
            <a:avLst>
              <a:gd name="adj" fmla="val 50000"/>
            </a:avLst>
          </a:prstGeom>
          <a:solidFill xmlns:a="http://schemas.openxmlformats.org/drawingml/2006/main">
            <a:srgbClr val="1E5C8A"/>
          </a:solidFill>
        </p:spPr>
      </p:sp>
      <p:sp>
        <p:nvSpPr>
          <p:cNvPr id="10" name="">
            <a:extLst xmlns:a="http://schemas.openxmlformats.org/drawingml/2006/main">
              <a:ext uri="{FF2B5EF4-FFF2-40B4-BE49-F238E27FC236}">
                <a16:creationId xmlns:a16="http://schemas.microsoft.com/office/drawing/2014/main" id="{0001ECA6-C0A1-4B58-A1F8-07D7C6AE6FAE}"/>
              </a:ext>
            </a:extLst>
          </p:cNvPr>
          <p:cNvSpPr>
            <a:spLocks xmlns:a="http://schemas.openxmlformats.org/drawingml/2006/main" noGrp="1"/>
          </p:cNvSpPr>
          <p:nvPr/>
        </p:nvSpPr>
        <p:spPr>
          <a:xfrm xmlns:a="http://schemas.openxmlformats.org/drawingml/2006/main">
            <a:off x="800100" y="2857500"/>
            <a:ext cx="5524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FFFFFF"/>
                </a:solidFill>
              </a:defRPr>
            </a:pPr>
            <a:r>
              <a:rPr sz="2025" b="1">
                <a:solidFill>
                  <a:srgbClr val="FFFFFF"/>
                </a:solidFill>
              </a:rPr>
              <a:t>1</a:t>
            </a:r>
          </a:p>
        </p:txBody>
      </p:sp>
      <p:sp>
        <p:nvSpPr>
          <p:cNvPr id="11" name="">
            <a:extLst xmlns:a="http://schemas.openxmlformats.org/drawingml/2006/main">
              <a:ext uri="{FF2B5EF4-FFF2-40B4-BE49-F238E27FC236}">
                <a16:creationId xmlns:a16="http://schemas.microsoft.com/office/drawing/2014/main" id="{DFE5A67A-9AD7-4B76-B0AE-C313D167C14E}"/>
              </a:ext>
            </a:extLst>
          </p:cNvPr>
          <p:cNvSpPr>
            <a:spLocks xmlns:a="http://schemas.openxmlformats.org/drawingml/2006/main" noGrp="1"/>
          </p:cNvSpPr>
          <p:nvPr/>
        </p:nvSpPr>
        <p:spPr>
          <a:xfrm xmlns:a="http://schemas.openxmlformats.org/drawingml/2006/main">
            <a:off x="1524000" y="2857500"/>
            <a:ext cx="65532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0202E"/>
                </a:solidFill>
              </a:defRPr>
            </a:pPr>
            <a:r>
              <a:rPr sz="1875" b="1">
                <a:solidFill>
                  <a:srgbClr val="10202E"/>
                </a:solidFill>
              </a:rPr>
              <a:t>Chronological split</a:t>
            </a:r>
          </a:p>
        </p:txBody>
      </p:sp>
      <p:sp>
        <p:nvSpPr>
          <p:cNvPr id="12" name="">
            <a:extLst xmlns:a="http://schemas.openxmlformats.org/drawingml/2006/main">
              <a:ext uri="{FF2B5EF4-FFF2-40B4-BE49-F238E27FC236}">
                <a16:creationId xmlns:a16="http://schemas.microsoft.com/office/drawing/2014/main" id="{21B537EB-8DFF-4DFE-AF34-8210F3DE7CB1}"/>
              </a:ext>
            </a:extLst>
          </p:cNvPr>
          <p:cNvSpPr>
            <a:spLocks xmlns:a="http://schemas.openxmlformats.org/drawingml/2006/main" noGrp="1"/>
          </p:cNvSpPr>
          <p:nvPr/>
        </p:nvSpPr>
        <p:spPr>
          <a:xfrm xmlns:a="http://schemas.openxmlformats.org/drawingml/2006/main">
            <a:off x="1524000" y="3181350"/>
            <a:ext cx="65532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5C6C7A"/>
                </a:solidFill>
              </a:defRPr>
            </a:pPr>
            <a:r>
              <a:rPr sz="1425">
                <a:solidFill>
                  <a:srgbClr val="5C6C7A"/>
                </a:solidFill>
              </a:rPr>
              <a:t>Train through 2022-12-21; test through 2026-03-12</a:t>
            </a:r>
          </a:p>
        </p:txBody>
      </p:sp>
      <p:sp>
        <p:nvSpPr>
          <p:cNvPr id="13" name="">
            <a:extLst xmlns:a="http://schemas.openxmlformats.org/drawingml/2006/main">
              <a:ext uri="{FF2B5EF4-FFF2-40B4-BE49-F238E27FC236}">
                <a16:creationId xmlns:a16="http://schemas.microsoft.com/office/drawing/2014/main" id="{3A513C8A-9049-4461-BC52-5F9D9307E0FB}"/>
              </a:ext>
            </a:extLst>
          </p:cNvPr>
          <p:cNvSpPr>
            <a:spLocks xmlns:a="http://schemas.openxmlformats.org/drawingml/2006/main" noGrp="1"/>
          </p:cNvSpPr>
          <p:nvPr/>
        </p:nvSpPr>
        <p:spPr>
          <a:xfrm xmlns:a="http://schemas.openxmlformats.org/drawingml/2006/main">
            <a:off x="800100" y="3661410"/>
            <a:ext cx="552450" cy="552450"/>
          </a:xfrm>
          <a:prstGeom xmlns:a="http://schemas.openxmlformats.org/drawingml/2006/main" prst="roundRect">
            <a:avLst>
              <a:gd name="adj" fmla="val 50000"/>
            </a:avLst>
          </a:prstGeom>
          <a:solidFill xmlns:a="http://schemas.openxmlformats.org/drawingml/2006/main">
            <a:srgbClr val="1F8A7B"/>
          </a:solidFill>
        </p:spPr>
      </p:sp>
      <p:sp>
        <p:nvSpPr>
          <p:cNvPr id="14" name="">
            <a:extLst xmlns:a="http://schemas.openxmlformats.org/drawingml/2006/main">
              <a:ext uri="{FF2B5EF4-FFF2-40B4-BE49-F238E27FC236}">
                <a16:creationId xmlns:a16="http://schemas.microsoft.com/office/drawing/2014/main" id="{D7F4FB85-7805-4702-A8F4-A32F42D5397F}"/>
              </a:ext>
            </a:extLst>
          </p:cNvPr>
          <p:cNvSpPr>
            <a:spLocks xmlns:a="http://schemas.openxmlformats.org/drawingml/2006/main" noGrp="1"/>
          </p:cNvSpPr>
          <p:nvPr/>
        </p:nvSpPr>
        <p:spPr>
          <a:xfrm xmlns:a="http://schemas.openxmlformats.org/drawingml/2006/main">
            <a:off x="800100" y="3657600"/>
            <a:ext cx="5524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FFFFFF"/>
                </a:solidFill>
              </a:defRPr>
            </a:pPr>
            <a:r>
              <a:rPr sz="2025" b="1">
                <a:solidFill>
                  <a:srgbClr val="FFFFFF"/>
                </a:solidFill>
              </a:rPr>
              <a:t>2</a:t>
            </a:r>
          </a:p>
        </p:txBody>
      </p:sp>
      <p:sp>
        <p:nvSpPr>
          <p:cNvPr id="15" name="">
            <a:extLst xmlns:a="http://schemas.openxmlformats.org/drawingml/2006/main">
              <a:ext uri="{FF2B5EF4-FFF2-40B4-BE49-F238E27FC236}">
                <a16:creationId xmlns:a16="http://schemas.microsoft.com/office/drawing/2014/main" id="{5A5EF1D7-CAFD-45E0-ADA0-4EEC6A5713C4}"/>
              </a:ext>
            </a:extLst>
          </p:cNvPr>
          <p:cNvSpPr>
            <a:spLocks xmlns:a="http://schemas.openxmlformats.org/drawingml/2006/main" noGrp="1"/>
          </p:cNvSpPr>
          <p:nvPr/>
        </p:nvSpPr>
        <p:spPr>
          <a:xfrm xmlns:a="http://schemas.openxmlformats.org/drawingml/2006/main">
            <a:off x="1524000" y="3657600"/>
            <a:ext cx="65532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0202E"/>
                </a:solidFill>
              </a:defRPr>
            </a:pPr>
            <a:r>
              <a:rPr sz="1875" b="1">
                <a:solidFill>
                  <a:srgbClr val="10202E"/>
                </a:solidFill>
              </a:rPr>
              <a:t>Standardize inputs</a:t>
            </a:r>
          </a:p>
        </p:txBody>
      </p:sp>
      <p:sp>
        <p:nvSpPr>
          <p:cNvPr id="16" name="">
            <a:extLst xmlns:a="http://schemas.openxmlformats.org/drawingml/2006/main">
              <a:ext uri="{FF2B5EF4-FFF2-40B4-BE49-F238E27FC236}">
                <a16:creationId xmlns:a16="http://schemas.microsoft.com/office/drawing/2014/main" id="{45BFBE04-0A1A-445C-AA75-3A27264D4D59}"/>
              </a:ext>
            </a:extLst>
          </p:cNvPr>
          <p:cNvSpPr>
            <a:spLocks xmlns:a="http://schemas.openxmlformats.org/drawingml/2006/main" noGrp="1"/>
          </p:cNvSpPr>
          <p:nvPr/>
        </p:nvSpPr>
        <p:spPr>
          <a:xfrm xmlns:a="http://schemas.openxmlformats.org/drawingml/2006/main">
            <a:off x="1524000" y="3981450"/>
            <a:ext cx="65532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5C6C7A"/>
                </a:solidFill>
              </a:defRPr>
            </a:pPr>
            <a:r>
              <a:rPr sz="1425">
                <a:solidFill>
                  <a:srgbClr val="5C6C7A"/>
                </a:solidFill>
              </a:rPr>
              <a:t>Scale market, risk, volatility, lag, and event features</a:t>
            </a:r>
          </a:p>
        </p:txBody>
      </p:sp>
      <p:sp>
        <p:nvSpPr>
          <p:cNvPr id="17" name="">
            <a:extLst xmlns:a="http://schemas.openxmlformats.org/drawingml/2006/main">
              <a:ext uri="{FF2B5EF4-FFF2-40B4-BE49-F238E27FC236}">
                <a16:creationId xmlns:a16="http://schemas.microsoft.com/office/drawing/2014/main" id="{7D5F3A89-B9A2-4959-A320-389C5729D9CD}"/>
              </a:ext>
            </a:extLst>
          </p:cNvPr>
          <p:cNvSpPr>
            <a:spLocks xmlns:a="http://schemas.openxmlformats.org/drawingml/2006/main" noGrp="1"/>
          </p:cNvSpPr>
          <p:nvPr/>
        </p:nvSpPr>
        <p:spPr>
          <a:xfrm xmlns:a="http://schemas.openxmlformats.org/drawingml/2006/main">
            <a:off x="800100" y="4461510"/>
            <a:ext cx="552450" cy="552450"/>
          </a:xfrm>
          <a:prstGeom xmlns:a="http://schemas.openxmlformats.org/drawingml/2006/main" prst="roundRect">
            <a:avLst>
              <a:gd name="adj" fmla="val 50000"/>
            </a:avLst>
          </a:prstGeom>
          <a:solidFill xmlns:a="http://schemas.openxmlformats.org/drawingml/2006/main">
            <a:srgbClr val="C58A1A"/>
          </a:solidFill>
        </p:spPr>
      </p:sp>
      <p:sp>
        <p:nvSpPr>
          <p:cNvPr id="18" name="">
            <a:extLst xmlns:a="http://schemas.openxmlformats.org/drawingml/2006/main">
              <a:ext uri="{FF2B5EF4-FFF2-40B4-BE49-F238E27FC236}">
                <a16:creationId xmlns:a16="http://schemas.microsoft.com/office/drawing/2014/main" id="{846155E7-35C1-44C6-9697-5B8A21F38997}"/>
              </a:ext>
            </a:extLst>
          </p:cNvPr>
          <p:cNvSpPr>
            <a:spLocks xmlns:a="http://schemas.openxmlformats.org/drawingml/2006/main" noGrp="1"/>
          </p:cNvSpPr>
          <p:nvPr/>
        </p:nvSpPr>
        <p:spPr>
          <a:xfrm xmlns:a="http://schemas.openxmlformats.org/drawingml/2006/main">
            <a:off x="800100" y="4457700"/>
            <a:ext cx="5524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FFFFFF"/>
                </a:solidFill>
              </a:defRPr>
            </a:pPr>
            <a:r>
              <a:rPr sz="2025" b="1">
                <a:solidFill>
                  <a:srgbClr val="FFFFFF"/>
                </a:solidFill>
              </a:rPr>
              <a:t>3</a:t>
            </a:r>
          </a:p>
        </p:txBody>
      </p:sp>
      <p:sp>
        <p:nvSpPr>
          <p:cNvPr id="19" name="">
            <a:extLst xmlns:a="http://schemas.openxmlformats.org/drawingml/2006/main">
              <a:ext uri="{FF2B5EF4-FFF2-40B4-BE49-F238E27FC236}">
                <a16:creationId xmlns:a16="http://schemas.microsoft.com/office/drawing/2014/main" id="{84285A91-5F52-4069-AC3C-CA12E34A2675}"/>
              </a:ext>
            </a:extLst>
          </p:cNvPr>
          <p:cNvSpPr>
            <a:spLocks xmlns:a="http://schemas.openxmlformats.org/drawingml/2006/main" noGrp="1"/>
          </p:cNvSpPr>
          <p:nvPr/>
        </p:nvSpPr>
        <p:spPr>
          <a:xfrm xmlns:a="http://schemas.openxmlformats.org/drawingml/2006/main">
            <a:off x="1524000" y="4457700"/>
            <a:ext cx="65532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0202E"/>
                </a:solidFill>
              </a:defRPr>
            </a:pPr>
            <a:r>
              <a:rPr sz="1875" b="1">
                <a:solidFill>
                  <a:srgbClr val="10202E"/>
                </a:solidFill>
              </a:rPr>
              <a:t>Fit Ridge regression</a:t>
            </a:r>
          </a:p>
        </p:txBody>
      </p:sp>
      <p:sp>
        <p:nvSpPr>
          <p:cNvPr id="20" name="">
            <a:extLst xmlns:a="http://schemas.openxmlformats.org/drawingml/2006/main">
              <a:ext uri="{FF2B5EF4-FFF2-40B4-BE49-F238E27FC236}">
                <a16:creationId xmlns:a16="http://schemas.microsoft.com/office/drawing/2014/main" id="{A098850B-1082-48DF-980C-D57A177BF0F7}"/>
              </a:ext>
            </a:extLst>
          </p:cNvPr>
          <p:cNvSpPr>
            <a:spLocks xmlns:a="http://schemas.openxmlformats.org/drawingml/2006/main" noGrp="1"/>
          </p:cNvSpPr>
          <p:nvPr/>
        </p:nvSpPr>
        <p:spPr>
          <a:xfrm xmlns:a="http://schemas.openxmlformats.org/drawingml/2006/main">
            <a:off x="1524000" y="4781550"/>
            <a:ext cx="65532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5C6C7A"/>
                </a:solidFill>
              </a:defRPr>
            </a:pPr>
            <a:r>
              <a:rPr sz="1425">
                <a:solidFill>
                  <a:srgbClr val="5C6C7A"/>
                </a:solidFill>
              </a:rPr>
              <a:t>Regularized linear model saved as a joblib pipeline</a:t>
            </a:r>
          </a:p>
        </p:txBody>
      </p:sp>
      <p:sp>
        <p:nvSpPr>
          <p:cNvPr id="21" name="">
            <a:extLst xmlns:a="http://schemas.openxmlformats.org/drawingml/2006/main">
              <a:ext uri="{FF2B5EF4-FFF2-40B4-BE49-F238E27FC236}">
                <a16:creationId xmlns:a16="http://schemas.microsoft.com/office/drawing/2014/main" id="{8CFD7E03-5556-4E40-87EE-43971F682AA2}"/>
              </a:ext>
            </a:extLst>
          </p:cNvPr>
          <p:cNvSpPr>
            <a:spLocks xmlns:a="http://schemas.openxmlformats.org/drawingml/2006/main" noGrp="1"/>
          </p:cNvSpPr>
          <p:nvPr/>
        </p:nvSpPr>
        <p:spPr>
          <a:xfrm xmlns:a="http://schemas.openxmlformats.org/drawingml/2006/main">
            <a:off x="800100" y="5261610"/>
            <a:ext cx="552450" cy="552450"/>
          </a:xfrm>
          <a:prstGeom xmlns:a="http://schemas.openxmlformats.org/drawingml/2006/main" prst="roundRect">
            <a:avLst>
              <a:gd name="adj" fmla="val 50000"/>
            </a:avLst>
          </a:prstGeom>
          <a:solidFill xmlns:a="http://schemas.openxmlformats.org/drawingml/2006/main">
            <a:srgbClr val="B65B4B"/>
          </a:solidFill>
        </p:spPr>
      </p:sp>
      <p:sp>
        <p:nvSpPr>
          <p:cNvPr id="22" name="">
            <a:extLst xmlns:a="http://schemas.openxmlformats.org/drawingml/2006/main">
              <a:ext uri="{FF2B5EF4-FFF2-40B4-BE49-F238E27FC236}">
                <a16:creationId xmlns:a16="http://schemas.microsoft.com/office/drawing/2014/main" id="{9EA29C32-3E0D-4B91-BBD6-1ED698DEA7C5}"/>
              </a:ext>
            </a:extLst>
          </p:cNvPr>
          <p:cNvSpPr>
            <a:spLocks xmlns:a="http://schemas.openxmlformats.org/drawingml/2006/main" noGrp="1"/>
          </p:cNvSpPr>
          <p:nvPr/>
        </p:nvSpPr>
        <p:spPr>
          <a:xfrm xmlns:a="http://schemas.openxmlformats.org/drawingml/2006/main">
            <a:off x="800100" y="5257800"/>
            <a:ext cx="5524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FFFFFF"/>
                </a:solidFill>
              </a:defRPr>
            </a:pPr>
            <a:r>
              <a:rPr sz="2025" b="1">
                <a:solidFill>
                  <a:srgbClr val="FFFFFF"/>
                </a:solidFill>
              </a:rPr>
              <a:t>4</a:t>
            </a:r>
          </a:p>
        </p:txBody>
      </p:sp>
      <p:sp>
        <p:nvSpPr>
          <p:cNvPr id="23" name="">
            <a:extLst xmlns:a="http://schemas.openxmlformats.org/drawingml/2006/main">
              <a:ext uri="{FF2B5EF4-FFF2-40B4-BE49-F238E27FC236}">
                <a16:creationId xmlns:a16="http://schemas.microsoft.com/office/drawing/2014/main" id="{C601E9EF-07E7-4406-AB58-1F56CF2366B9}"/>
              </a:ext>
            </a:extLst>
          </p:cNvPr>
          <p:cNvSpPr>
            <a:spLocks xmlns:a="http://schemas.openxmlformats.org/drawingml/2006/main" noGrp="1"/>
          </p:cNvSpPr>
          <p:nvPr/>
        </p:nvSpPr>
        <p:spPr>
          <a:xfrm xmlns:a="http://schemas.openxmlformats.org/drawingml/2006/main">
            <a:off x="1524000" y="5257800"/>
            <a:ext cx="65532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0202E"/>
                </a:solidFill>
              </a:defRPr>
            </a:pPr>
            <a:r>
              <a:rPr sz="1875" b="1">
                <a:solidFill>
                  <a:srgbClr val="10202E"/>
                </a:solidFill>
              </a:rPr>
              <a:t>Export metrics</a:t>
            </a:r>
          </a:p>
        </p:txBody>
      </p:sp>
      <p:sp>
        <p:nvSpPr>
          <p:cNvPr id="24" name="">
            <a:extLst xmlns:a="http://schemas.openxmlformats.org/drawingml/2006/main">
              <a:ext uri="{FF2B5EF4-FFF2-40B4-BE49-F238E27FC236}">
                <a16:creationId xmlns:a16="http://schemas.microsoft.com/office/drawing/2014/main" id="{5B05EE96-F23A-4E82-B709-098DC1BDE6DF}"/>
              </a:ext>
            </a:extLst>
          </p:cNvPr>
          <p:cNvSpPr>
            <a:spLocks xmlns:a="http://schemas.openxmlformats.org/drawingml/2006/main" noGrp="1"/>
          </p:cNvSpPr>
          <p:nvPr/>
        </p:nvSpPr>
        <p:spPr>
          <a:xfrm xmlns:a="http://schemas.openxmlformats.org/drawingml/2006/main">
            <a:off x="1524000" y="5581650"/>
            <a:ext cx="65532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5C6C7A"/>
                </a:solidFill>
              </a:defRPr>
            </a:pPr>
            <a:r>
              <a:rPr sz="1425">
                <a:solidFill>
                  <a:srgbClr val="5C6C7A"/>
                </a:solidFill>
              </a:rPr>
              <a:t>JSON metadata and CSV test predictions for review</a:t>
            </a:r>
          </a:p>
        </p:txBody>
      </p:sp>
    </p:spTree>
    <p:extLst>
      <p:ext uri="{BB962C8B-B14F-4D97-AF65-F5344CB8AC3E}">
        <p14:creationId xmlns:p14="http://schemas.microsoft.com/office/powerpoint/2010/main" val="1118826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09C96E1D-4ECD-4761-9D15-8645469A0442}"/>
              </a:ext>
            </a:extLst>
          </p:cNvPr>
          <p:cNvSpPr>
            <a:spLocks xmlns:a="http://schemas.openxmlformats.org/drawingml/2006/main" noGrp="1"/>
          </p:cNvSpPr>
          <p:nvPr/>
        </p:nvSpPr>
        <p:spPr>
          <a:xfrm xmlns:a="http://schemas.openxmlformats.org/drawingml/2006/main">
            <a:off x="800100" y="609600"/>
            <a:ext cx="166878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a:solidFill>
                  <a:srgbClr val="10202E"/>
                </a:solidFill>
              </a:defRPr>
            </a:pPr>
            <a:r>
              <a:rPr sz="4050" b="1">
                <a:solidFill>
                  <a:srgbClr val="10202E"/>
                </a:solidFill>
              </a:rPr>
              <a:t>Features combine prices, risk, volatility, and events</a:t>
            </a:r>
          </a:p>
        </p:txBody>
      </p:sp>
      <p:sp>
        <p:nvSpPr>
          <p:cNvPr id="2" name="slide-subtitle">
            <a:extLst xmlns:a="http://schemas.openxmlformats.org/drawingml/2006/main">
              <a:ext uri="{FF2B5EF4-FFF2-40B4-BE49-F238E27FC236}">
                <a16:creationId xmlns:a16="http://schemas.microsoft.com/office/drawing/2014/main" id="{C1A8A1DE-5699-433C-B64E-FB435C8095E5}"/>
              </a:ext>
            </a:extLst>
          </p:cNvPr>
          <p:cNvSpPr>
            <a:spLocks xmlns:a="http://schemas.openxmlformats.org/drawingml/2006/main" noGrp="1"/>
          </p:cNvSpPr>
          <p:nvPr/>
        </p:nvSpPr>
        <p:spPr>
          <a:xfrm xmlns:a="http://schemas.openxmlformats.org/drawingml/2006/main">
            <a:off x="800100" y="1333500"/>
            <a:ext cx="48577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5C6C7A"/>
                </a:solidFill>
              </a:defRPr>
            </a:pPr>
            <a:r>
              <a:rPr sz="1800">
                <a:solidFill>
                  <a:srgbClr val="5C6C7A"/>
                </a:solidFill>
              </a:rPr>
              <a:t>The model uses 20 fields from ops_market_daily.csv.</a:t>
            </a:r>
          </a:p>
        </p:txBody>
      </p:sp>
      <p:sp>
        <p:nvSpPr>
          <p:cNvPr id="3" name="">
            <a:extLst xmlns:a="http://schemas.openxmlformats.org/drawingml/2006/main">
              <a:ext uri="{FF2B5EF4-FFF2-40B4-BE49-F238E27FC236}">
                <a16:creationId xmlns:a16="http://schemas.microsoft.com/office/drawing/2014/main" id="{1888E99D-F864-427F-9484-2FE5F85EB8C8}"/>
              </a:ext>
            </a:extLst>
          </p:cNvPr>
          <p:cNvSpPr>
            <a:spLocks xmlns:a="http://schemas.openxmlformats.org/drawingml/2006/main" noGrp="1"/>
          </p:cNvSpPr>
          <p:nvPr/>
        </p:nvSpPr>
        <p:spPr>
          <a:xfrm xmlns:a="http://schemas.openxmlformats.org/drawingml/2006/main">
            <a:off x="800100" y="1943100"/>
            <a:ext cx="39814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E5C8A"/>
                </a:solidFill>
              </a:defRPr>
            </a:pPr>
            <a:r>
              <a:rPr sz="4350" b="1">
                <a:solidFill>
                  <a:srgbClr val="1E5C8A"/>
                </a:solidFill>
              </a:rPr>
              <a:t>2</a:t>
            </a:r>
          </a:p>
        </p:txBody>
      </p:sp>
      <p:sp>
        <p:nvSpPr>
          <p:cNvPr id="4" name="">
            <a:extLst xmlns:a="http://schemas.openxmlformats.org/drawingml/2006/main">
              <a:ext uri="{FF2B5EF4-FFF2-40B4-BE49-F238E27FC236}">
                <a16:creationId xmlns:a16="http://schemas.microsoft.com/office/drawing/2014/main" id="{A808735A-C95C-436F-96AE-AE664A9BC9AA}"/>
              </a:ext>
            </a:extLst>
          </p:cNvPr>
          <p:cNvSpPr>
            <a:spLocks xmlns:a="http://schemas.openxmlformats.org/drawingml/2006/main" noGrp="1"/>
          </p:cNvSpPr>
          <p:nvPr/>
        </p:nvSpPr>
        <p:spPr>
          <a:xfrm xmlns:a="http://schemas.openxmlformats.org/drawingml/2006/main">
            <a:off x="800100" y="2647950"/>
            <a:ext cx="3981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current oil prices</a:t>
            </a:r>
          </a:p>
        </p:txBody>
      </p:sp>
      <p:sp>
        <p:nvSpPr>
          <p:cNvPr id="5" name="">
            <a:extLst xmlns:a="http://schemas.openxmlformats.org/drawingml/2006/main">
              <a:ext uri="{FF2B5EF4-FFF2-40B4-BE49-F238E27FC236}">
                <a16:creationId xmlns:a16="http://schemas.microsoft.com/office/drawing/2014/main" id="{BCB1C426-7E47-4D7A-91EE-1C947B1D7377}"/>
              </a:ext>
            </a:extLst>
          </p:cNvPr>
          <p:cNvSpPr>
            <a:spLocks xmlns:a="http://schemas.openxmlformats.org/drawingml/2006/main" noGrp="1"/>
          </p:cNvSpPr>
          <p:nvPr/>
        </p:nvSpPr>
        <p:spPr>
          <a:xfrm xmlns:a="http://schemas.openxmlformats.org/drawingml/2006/main">
            <a:off x="5029200" y="1943100"/>
            <a:ext cx="39814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F8A7B"/>
                </a:solidFill>
              </a:defRPr>
            </a:pPr>
            <a:r>
              <a:rPr sz="4350" b="1">
                <a:solidFill>
                  <a:srgbClr val="1F8A7B"/>
                </a:solidFill>
              </a:rPr>
              <a:t>2</a:t>
            </a:r>
          </a:p>
        </p:txBody>
      </p:sp>
      <p:sp>
        <p:nvSpPr>
          <p:cNvPr id="6" name="">
            <a:extLst xmlns:a="http://schemas.openxmlformats.org/drawingml/2006/main">
              <a:ext uri="{FF2B5EF4-FFF2-40B4-BE49-F238E27FC236}">
                <a16:creationId xmlns:a16="http://schemas.microsoft.com/office/drawing/2014/main" id="{73B27AF6-29AC-42BD-B42E-84B65203EFF3}"/>
              </a:ext>
            </a:extLst>
          </p:cNvPr>
          <p:cNvSpPr>
            <a:spLocks xmlns:a="http://schemas.openxmlformats.org/drawingml/2006/main" noGrp="1"/>
          </p:cNvSpPr>
          <p:nvPr/>
        </p:nvSpPr>
        <p:spPr>
          <a:xfrm xmlns:a="http://schemas.openxmlformats.org/drawingml/2006/main">
            <a:off x="5029200" y="2647950"/>
            <a:ext cx="3981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macro indicators</a:t>
            </a:r>
          </a:p>
        </p:txBody>
      </p:sp>
      <p:sp>
        <p:nvSpPr>
          <p:cNvPr id="7" name="">
            <a:extLst xmlns:a="http://schemas.openxmlformats.org/drawingml/2006/main">
              <a:ext uri="{FF2B5EF4-FFF2-40B4-BE49-F238E27FC236}">
                <a16:creationId xmlns:a16="http://schemas.microsoft.com/office/drawing/2014/main" id="{60AA8150-A123-4DB2-92F5-C50A354DDC44}"/>
              </a:ext>
            </a:extLst>
          </p:cNvPr>
          <p:cNvSpPr>
            <a:spLocks xmlns:a="http://schemas.openxmlformats.org/drawingml/2006/main" noGrp="1"/>
          </p:cNvSpPr>
          <p:nvPr/>
        </p:nvSpPr>
        <p:spPr>
          <a:xfrm xmlns:a="http://schemas.openxmlformats.org/drawingml/2006/main">
            <a:off x="9277350" y="1943100"/>
            <a:ext cx="39814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C58A1A"/>
                </a:solidFill>
              </a:defRPr>
            </a:pPr>
            <a:r>
              <a:rPr sz="4350" b="1">
                <a:solidFill>
                  <a:srgbClr val="C58A1A"/>
                </a:solidFill>
              </a:rPr>
              <a:t>1</a:t>
            </a:r>
          </a:p>
        </p:txBody>
      </p:sp>
      <p:sp>
        <p:nvSpPr>
          <p:cNvPr id="8" name="">
            <a:extLst xmlns:a="http://schemas.openxmlformats.org/drawingml/2006/main">
              <a:ext uri="{FF2B5EF4-FFF2-40B4-BE49-F238E27FC236}">
                <a16:creationId xmlns:a16="http://schemas.microsoft.com/office/drawing/2014/main" id="{59789D1A-FF66-44AF-B3DC-24C71B3E3FA0}"/>
              </a:ext>
            </a:extLst>
          </p:cNvPr>
          <p:cNvSpPr>
            <a:spLocks xmlns:a="http://schemas.openxmlformats.org/drawingml/2006/main" noGrp="1"/>
          </p:cNvSpPr>
          <p:nvPr/>
        </p:nvSpPr>
        <p:spPr>
          <a:xfrm xmlns:a="http://schemas.openxmlformats.org/drawingml/2006/main">
            <a:off x="9277350" y="2647950"/>
            <a:ext cx="3981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GPR risk index</a:t>
            </a:r>
          </a:p>
        </p:txBody>
      </p:sp>
      <p:sp>
        <p:nvSpPr>
          <p:cNvPr id="9" name="">
            <a:extLst xmlns:a="http://schemas.openxmlformats.org/drawingml/2006/main">
              <a:ext uri="{FF2B5EF4-FFF2-40B4-BE49-F238E27FC236}">
                <a16:creationId xmlns:a16="http://schemas.microsoft.com/office/drawing/2014/main" id="{443310F3-64D3-45C0-9896-B04493248B9A}"/>
              </a:ext>
            </a:extLst>
          </p:cNvPr>
          <p:cNvSpPr>
            <a:spLocks xmlns:a="http://schemas.openxmlformats.org/drawingml/2006/main" noGrp="1"/>
          </p:cNvSpPr>
          <p:nvPr/>
        </p:nvSpPr>
        <p:spPr>
          <a:xfrm xmlns:a="http://schemas.openxmlformats.org/drawingml/2006/main">
            <a:off x="13506450" y="1943100"/>
            <a:ext cx="39814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B65B4B"/>
                </a:solidFill>
              </a:defRPr>
            </a:pPr>
            <a:r>
              <a:rPr sz="4350" b="1">
                <a:solidFill>
                  <a:srgbClr val="B65B4B"/>
                </a:solidFill>
              </a:rPr>
              <a:t>2</a:t>
            </a:r>
          </a:p>
        </p:txBody>
      </p:sp>
      <p:sp>
        <p:nvSpPr>
          <p:cNvPr id="10" name="">
            <a:extLst xmlns:a="http://schemas.openxmlformats.org/drawingml/2006/main">
              <a:ext uri="{FF2B5EF4-FFF2-40B4-BE49-F238E27FC236}">
                <a16:creationId xmlns:a16="http://schemas.microsoft.com/office/drawing/2014/main" id="{C8C8A490-3210-4ECB-B288-49EA210CBFEF}"/>
              </a:ext>
            </a:extLst>
          </p:cNvPr>
          <p:cNvSpPr>
            <a:spLocks xmlns:a="http://schemas.openxmlformats.org/drawingml/2006/main" noGrp="1"/>
          </p:cNvSpPr>
          <p:nvPr/>
        </p:nvSpPr>
        <p:spPr>
          <a:xfrm xmlns:a="http://schemas.openxmlformats.org/drawingml/2006/main">
            <a:off x="13506450" y="2647950"/>
            <a:ext cx="3981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daily returns</a:t>
            </a:r>
          </a:p>
        </p:txBody>
      </p:sp>
      <p:sp>
        <p:nvSpPr>
          <p:cNvPr id="11" name="">
            <a:extLst xmlns:a="http://schemas.openxmlformats.org/drawingml/2006/main">
              <a:ext uri="{FF2B5EF4-FFF2-40B4-BE49-F238E27FC236}">
                <a16:creationId xmlns:a16="http://schemas.microsoft.com/office/drawing/2014/main" id="{2F90B606-C3C5-4C19-8A45-1E742FCA80E1}"/>
              </a:ext>
            </a:extLst>
          </p:cNvPr>
          <p:cNvSpPr>
            <a:spLocks xmlns:a="http://schemas.openxmlformats.org/drawingml/2006/main" noGrp="1"/>
          </p:cNvSpPr>
          <p:nvPr/>
        </p:nvSpPr>
        <p:spPr>
          <a:xfrm xmlns:a="http://schemas.openxmlformats.org/drawingml/2006/main">
            <a:off x="800100" y="5943600"/>
            <a:ext cx="39814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E5C8A"/>
                </a:solidFill>
              </a:defRPr>
            </a:pPr>
            <a:r>
              <a:rPr sz="4350" b="1">
                <a:solidFill>
                  <a:srgbClr val="1E5C8A"/>
                </a:solidFill>
              </a:rPr>
              <a:t>6</a:t>
            </a:r>
          </a:p>
        </p:txBody>
      </p:sp>
      <p:sp>
        <p:nvSpPr>
          <p:cNvPr id="12" name="">
            <a:extLst xmlns:a="http://schemas.openxmlformats.org/drawingml/2006/main">
              <a:ext uri="{FF2B5EF4-FFF2-40B4-BE49-F238E27FC236}">
                <a16:creationId xmlns:a16="http://schemas.microsoft.com/office/drawing/2014/main" id="{632F49B6-B1F0-4E8B-818E-4B08DAE1D91D}"/>
              </a:ext>
            </a:extLst>
          </p:cNvPr>
          <p:cNvSpPr>
            <a:spLocks xmlns:a="http://schemas.openxmlformats.org/drawingml/2006/main" noGrp="1"/>
          </p:cNvSpPr>
          <p:nvPr/>
        </p:nvSpPr>
        <p:spPr>
          <a:xfrm xmlns:a="http://schemas.openxmlformats.org/drawingml/2006/main">
            <a:off x="800100" y="6648450"/>
            <a:ext cx="3981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lagged prices</a:t>
            </a:r>
          </a:p>
        </p:txBody>
      </p:sp>
      <p:sp>
        <p:nvSpPr>
          <p:cNvPr id="13" name="">
            <a:extLst xmlns:a="http://schemas.openxmlformats.org/drawingml/2006/main">
              <a:ext uri="{FF2B5EF4-FFF2-40B4-BE49-F238E27FC236}">
                <a16:creationId xmlns:a16="http://schemas.microsoft.com/office/drawing/2014/main" id="{539B5B56-1397-4E29-8937-AB671F1763BC}"/>
              </a:ext>
            </a:extLst>
          </p:cNvPr>
          <p:cNvSpPr>
            <a:spLocks xmlns:a="http://schemas.openxmlformats.org/drawingml/2006/main" noGrp="1"/>
          </p:cNvSpPr>
          <p:nvPr/>
        </p:nvSpPr>
        <p:spPr>
          <a:xfrm xmlns:a="http://schemas.openxmlformats.org/drawingml/2006/main">
            <a:off x="5029200" y="5943600"/>
            <a:ext cx="39814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F8A7B"/>
                </a:solidFill>
              </a:defRPr>
            </a:pPr>
            <a:r>
              <a:rPr sz="4350" b="1">
                <a:solidFill>
                  <a:srgbClr val="1F8A7B"/>
                </a:solidFill>
              </a:rPr>
              <a:t>4</a:t>
            </a:r>
          </a:p>
        </p:txBody>
      </p:sp>
      <p:sp>
        <p:nvSpPr>
          <p:cNvPr id="14" name="">
            <a:extLst xmlns:a="http://schemas.openxmlformats.org/drawingml/2006/main">
              <a:ext uri="{FF2B5EF4-FFF2-40B4-BE49-F238E27FC236}">
                <a16:creationId xmlns:a16="http://schemas.microsoft.com/office/drawing/2014/main" id="{091CF710-B028-483C-B727-E6BBEDBDF0AC}"/>
              </a:ext>
            </a:extLst>
          </p:cNvPr>
          <p:cNvSpPr>
            <a:spLocks xmlns:a="http://schemas.openxmlformats.org/drawingml/2006/main" noGrp="1"/>
          </p:cNvSpPr>
          <p:nvPr/>
        </p:nvSpPr>
        <p:spPr>
          <a:xfrm xmlns:a="http://schemas.openxmlformats.org/drawingml/2006/main">
            <a:off x="5029200" y="6648450"/>
            <a:ext cx="3981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volatility fields</a:t>
            </a:r>
          </a:p>
        </p:txBody>
      </p:sp>
      <p:sp>
        <p:nvSpPr>
          <p:cNvPr id="15" name="">
            <a:extLst xmlns:a="http://schemas.openxmlformats.org/drawingml/2006/main">
              <a:ext uri="{FF2B5EF4-FFF2-40B4-BE49-F238E27FC236}">
                <a16:creationId xmlns:a16="http://schemas.microsoft.com/office/drawing/2014/main" id="{6044466A-DD6B-4305-AD34-BC92B75D606E}"/>
              </a:ext>
            </a:extLst>
          </p:cNvPr>
          <p:cNvSpPr>
            <a:spLocks xmlns:a="http://schemas.openxmlformats.org/drawingml/2006/main" noGrp="1"/>
          </p:cNvSpPr>
          <p:nvPr/>
        </p:nvSpPr>
        <p:spPr>
          <a:xfrm xmlns:a="http://schemas.openxmlformats.org/drawingml/2006/main">
            <a:off x="9277350" y="5943600"/>
            <a:ext cx="39814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C58A1A"/>
                </a:solidFill>
              </a:defRPr>
            </a:pPr>
            <a:r>
              <a:rPr sz="4350" b="1">
                <a:solidFill>
                  <a:srgbClr val="C58A1A"/>
                </a:solidFill>
              </a:rPr>
              <a:t>1</a:t>
            </a:r>
          </a:p>
        </p:txBody>
      </p:sp>
      <p:sp>
        <p:nvSpPr>
          <p:cNvPr id="16" name="">
            <a:extLst xmlns:a="http://schemas.openxmlformats.org/drawingml/2006/main">
              <a:ext uri="{FF2B5EF4-FFF2-40B4-BE49-F238E27FC236}">
                <a16:creationId xmlns:a16="http://schemas.microsoft.com/office/drawing/2014/main" id="{0515003A-CF9B-4A39-8374-9128EAE8C654}"/>
              </a:ext>
            </a:extLst>
          </p:cNvPr>
          <p:cNvSpPr>
            <a:spLocks xmlns:a="http://schemas.openxmlformats.org/drawingml/2006/main" noGrp="1"/>
          </p:cNvSpPr>
          <p:nvPr/>
        </p:nvSpPr>
        <p:spPr>
          <a:xfrm xmlns:a="http://schemas.openxmlformats.org/drawingml/2006/main">
            <a:off x="9277350" y="6648450"/>
            <a:ext cx="3981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Brent-WTI spread</a:t>
            </a:r>
          </a:p>
        </p:txBody>
      </p:sp>
      <p:sp>
        <p:nvSpPr>
          <p:cNvPr id="17" name="">
            <a:extLst xmlns:a="http://schemas.openxmlformats.org/drawingml/2006/main">
              <a:ext uri="{FF2B5EF4-FFF2-40B4-BE49-F238E27FC236}">
                <a16:creationId xmlns:a16="http://schemas.microsoft.com/office/drawing/2014/main" id="{E901D355-9316-4D4C-A338-E1711C91B9AD}"/>
              </a:ext>
            </a:extLst>
          </p:cNvPr>
          <p:cNvSpPr>
            <a:spLocks xmlns:a="http://schemas.openxmlformats.org/drawingml/2006/main" noGrp="1"/>
          </p:cNvSpPr>
          <p:nvPr/>
        </p:nvSpPr>
        <p:spPr>
          <a:xfrm xmlns:a="http://schemas.openxmlformats.org/drawingml/2006/main">
            <a:off x="13506450" y="5943600"/>
            <a:ext cx="39814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B65B4B"/>
                </a:solidFill>
              </a:defRPr>
            </a:pPr>
            <a:r>
              <a:rPr sz="4350" b="1">
                <a:solidFill>
                  <a:srgbClr val="B65B4B"/>
                </a:solidFill>
              </a:rPr>
              <a:t>2</a:t>
            </a:r>
          </a:p>
        </p:txBody>
      </p:sp>
      <p:sp>
        <p:nvSpPr>
          <p:cNvPr id="18" name="">
            <a:extLst xmlns:a="http://schemas.openxmlformats.org/drawingml/2006/main">
              <a:ext uri="{FF2B5EF4-FFF2-40B4-BE49-F238E27FC236}">
                <a16:creationId xmlns:a16="http://schemas.microsoft.com/office/drawing/2014/main" id="{C1B57B00-384F-4FE5-BC77-23BF7E342E69}"/>
              </a:ext>
            </a:extLst>
          </p:cNvPr>
          <p:cNvSpPr>
            <a:spLocks xmlns:a="http://schemas.openxmlformats.org/drawingml/2006/main" noGrp="1"/>
          </p:cNvSpPr>
          <p:nvPr/>
        </p:nvSpPr>
        <p:spPr>
          <a:xfrm xmlns:a="http://schemas.openxmlformats.org/drawingml/2006/main">
            <a:off x="13506450" y="6648450"/>
            <a:ext cx="39814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event features</a:t>
            </a:r>
          </a:p>
        </p:txBody>
      </p:sp>
    </p:spTree>
    <p:extLst>
      <p:ext uri="{BB962C8B-B14F-4D97-AF65-F5344CB8AC3E}">
        <p14:creationId xmlns:p14="http://schemas.microsoft.com/office/powerpoint/2010/main" val="47522697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D26209B1-20D0-43B4-8588-8DFEBEA89CA2}"/>
              </a:ext>
            </a:extLst>
          </p:cNvPr>
          <p:cNvSpPr>
            <a:spLocks xmlns:a="http://schemas.openxmlformats.org/drawingml/2006/main" noGrp="1"/>
          </p:cNvSpPr>
          <p:nvPr/>
        </p:nvSpPr>
        <p:spPr>
          <a:xfrm xmlns:a="http://schemas.openxmlformats.org/drawingml/2006/main">
            <a:off x="800100" y="609600"/>
            <a:ext cx="8515350" cy="1238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a:solidFill>
                  <a:srgbClr val="10202E"/>
                </a:solidFill>
              </a:defRPr>
            </a:pPr>
            <a:r>
              <a:rPr sz="4050" b="1">
                <a:solidFill>
                  <a:srgbClr val="10202E"/>
                </a:solidFill>
              </a:rPr>
              <a:t>The model narrowly beats a strong baseline</a:t>
            </a:r>
          </a:p>
        </p:txBody>
      </p:sp>
      <p:sp>
        <p:nvSpPr>
          <p:cNvPr id="2" name="slide-subtitle">
            <a:extLst xmlns:a="http://schemas.openxmlformats.org/drawingml/2006/main">
              <a:ext uri="{FF2B5EF4-FFF2-40B4-BE49-F238E27FC236}">
                <a16:creationId xmlns:a16="http://schemas.microsoft.com/office/drawing/2014/main" id="{2349BC56-0636-4827-8271-9E2BC87474C2}"/>
              </a:ext>
            </a:extLst>
          </p:cNvPr>
          <p:cNvSpPr>
            <a:spLocks xmlns:a="http://schemas.openxmlformats.org/drawingml/2006/main" noGrp="1"/>
          </p:cNvSpPr>
          <p:nvPr/>
        </p:nvSpPr>
        <p:spPr>
          <a:xfrm xmlns:a="http://schemas.openxmlformats.org/drawingml/2006/main">
            <a:off x="800100" y="1962150"/>
            <a:ext cx="79057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5C6C7A"/>
                </a:solidFill>
              </a:defRPr>
            </a:pPr>
            <a:r>
              <a:rPr sz="1800">
                <a:solidFill>
                  <a:srgbClr val="5C6C7A"/>
                </a:solidFill>
              </a:rPr>
              <a:t>Next-day oil pricing is hard because yesterday's price is already an excellent predictor.</a:t>
            </a:r>
          </a:p>
        </p:txBody>
      </p:sp>
      <p:sp>
        <p:nvSpPr>
          <p:cNvPr id="3" name="">
            <a:extLst xmlns:a="http://schemas.openxmlformats.org/drawingml/2006/main">
              <a:ext uri="{FF2B5EF4-FFF2-40B4-BE49-F238E27FC236}">
                <a16:creationId xmlns:a16="http://schemas.microsoft.com/office/drawing/2014/main" id="{5DD40073-CAE8-4D5E-A56D-1B7A3FC3F809}"/>
              </a:ext>
            </a:extLst>
          </p:cNvPr>
          <p:cNvSpPr>
            <a:spLocks xmlns:a="http://schemas.openxmlformats.org/drawingml/2006/main" noGrp="1"/>
          </p:cNvSpPr>
          <p:nvPr/>
        </p:nvSpPr>
        <p:spPr>
          <a:xfrm xmlns:a="http://schemas.openxmlformats.org/drawingml/2006/main">
            <a:off x="9791700" y="609600"/>
            <a:ext cx="76962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10202E"/>
                </a:solidFill>
              </a:defRPr>
            </a:pPr>
            <a:r>
              <a:rPr sz="2250" b="1">
                <a:solidFill>
                  <a:srgbClr val="10202E"/>
                </a:solidFill>
              </a:rPr>
              <a:t>Test-set comparison</a:t>
            </a:r>
          </a:p>
        </p:txBody>
      </p:sp>
      <p:sp>
        <p:nvSpPr>
          <p:cNvPr id="4" name="">
            <a:extLst xmlns:a="http://schemas.openxmlformats.org/drawingml/2006/main">
              <a:ext uri="{FF2B5EF4-FFF2-40B4-BE49-F238E27FC236}">
                <a16:creationId xmlns:a16="http://schemas.microsoft.com/office/drawing/2014/main" id="{608B70C7-C050-411E-926E-3D9F51FE85BB}"/>
              </a:ext>
            </a:extLst>
          </p:cNvPr>
          <p:cNvSpPr>
            <a:spLocks xmlns:a="http://schemas.openxmlformats.org/drawingml/2006/main" noGrp="1"/>
          </p:cNvSpPr>
          <p:nvPr/>
        </p:nvSpPr>
        <p:spPr>
          <a:xfrm xmlns:a="http://schemas.openxmlformats.org/drawingml/2006/main">
            <a:off x="9791700" y="1085850"/>
            <a:ext cx="14287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b="1">
                <a:solidFill>
                  <a:srgbClr val="10202E"/>
                </a:solidFill>
              </a:defRPr>
            </a:pPr>
            <a:r>
              <a:rPr sz="1425" b="1">
                <a:solidFill>
                  <a:srgbClr val="10202E"/>
                </a:solidFill>
              </a:rPr>
              <a:t>MAE</a:t>
            </a:r>
          </a:p>
        </p:txBody>
      </p:sp>
      <p:sp>
        <p:nvSpPr>
          <p:cNvPr id="5" name="">
            <a:extLst xmlns:a="http://schemas.openxmlformats.org/drawingml/2006/main">
              <a:ext uri="{FF2B5EF4-FFF2-40B4-BE49-F238E27FC236}">
                <a16:creationId xmlns:a16="http://schemas.microsoft.com/office/drawing/2014/main" id="{CBF164BA-980D-446A-A709-0E4FD3D06DF2}"/>
              </a:ext>
            </a:extLst>
          </p:cNvPr>
          <p:cNvSpPr>
            <a:spLocks xmlns:a="http://schemas.openxmlformats.org/drawingml/2006/main" noGrp="1"/>
          </p:cNvSpPr>
          <p:nvPr/>
        </p:nvSpPr>
        <p:spPr>
          <a:xfrm xmlns:a="http://schemas.openxmlformats.org/drawingml/2006/main">
            <a:off x="11353800" y="1085850"/>
            <a:ext cx="1295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F8A7B"/>
                </a:solidFill>
              </a:defRPr>
            </a:pPr>
            <a:r>
              <a:rPr sz="1575" b="1">
                <a:solidFill>
                  <a:srgbClr val="1F8A7B"/>
                </a:solidFill>
              </a:rPr>
              <a:t>1.118</a:t>
            </a:r>
          </a:p>
        </p:txBody>
      </p:sp>
      <p:sp>
        <p:nvSpPr>
          <p:cNvPr id="6" name="">
            <a:extLst xmlns:a="http://schemas.openxmlformats.org/drawingml/2006/main">
              <a:ext uri="{FF2B5EF4-FFF2-40B4-BE49-F238E27FC236}">
                <a16:creationId xmlns:a16="http://schemas.microsoft.com/office/drawing/2014/main" id="{8E98EDF2-1FB8-42CC-AFE3-C50CCBB0FB2A}"/>
              </a:ext>
            </a:extLst>
          </p:cNvPr>
          <p:cNvSpPr>
            <a:spLocks xmlns:a="http://schemas.openxmlformats.org/drawingml/2006/main" noGrp="1"/>
          </p:cNvSpPr>
          <p:nvPr/>
        </p:nvSpPr>
        <p:spPr>
          <a:xfrm xmlns:a="http://schemas.openxmlformats.org/drawingml/2006/main">
            <a:off x="12763500" y="1085850"/>
            <a:ext cx="4724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5C6C7A"/>
                </a:solidFill>
              </a:defRPr>
            </a:pPr>
            <a:r>
              <a:rPr sz="1275">
                <a:solidFill>
                  <a:srgbClr val="5C6C7A"/>
                </a:solidFill>
              </a:rPr>
              <a:t>Model error in USD; baseline is 1.113</a:t>
            </a:r>
          </a:p>
        </p:txBody>
      </p:sp>
      <p:sp>
        <p:nvSpPr>
          <p:cNvPr id="7" name="">
            <a:extLst xmlns:a="http://schemas.openxmlformats.org/drawingml/2006/main">
              <a:ext uri="{FF2B5EF4-FFF2-40B4-BE49-F238E27FC236}">
                <a16:creationId xmlns:a16="http://schemas.microsoft.com/office/drawing/2014/main" id="{3E8812D0-952D-4ADB-89EC-7A8D775A43B8}"/>
              </a:ext>
            </a:extLst>
          </p:cNvPr>
          <p:cNvSpPr>
            <a:spLocks xmlns:a="http://schemas.openxmlformats.org/drawingml/2006/main" noGrp="1"/>
          </p:cNvSpPr>
          <p:nvPr/>
        </p:nvSpPr>
        <p:spPr>
          <a:xfrm xmlns:a="http://schemas.openxmlformats.org/drawingml/2006/main">
            <a:off x="9791700" y="1466850"/>
            <a:ext cx="14287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b="1">
                <a:solidFill>
                  <a:srgbClr val="10202E"/>
                </a:solidFill>
              </a:defRPr>
            </a:pPr>
            <a:r>
              <a:rPr sz="1425" b="1">
                <a:solidFill>
                  <a:srgbClr val="10202E"/>
                </a:solidFill>
              </a:rPr>
              <a:t>RMSE</a:t>
            </a:r>
          </a:p>
        </p:txBody>
      </p:sp>
      <p:sp>
        <p:nvSpPr>
          <p:cNvPr id="8" name="">
            <a:extLst xmlns:a="http://schemas.openxmlformats.org/drawingml/2006/main">
              <a:ext uri="{FF2B5EF4-FFF2-40B4-BE49-F238E27FC236}">
                <a16:creationId xmlns:a16="http://schemas.microsoft.com/office/drawing/2014/main" id="{6CE2E01E-51F5-4717-8977-EDBA855BE74B}"/>
              </a:ext>
            </a:extLst>
          </p:cNvPr>
          <p:cNvSpPr>
            <a:spLocks xmlns:a="http://schemas.openxmlformats.org/drawingml/2006/main" noGrp="1"/>
          </p:cNvSpPr>
          <p:nvPr/>
        </p:nvSpPr>
        <p:spPr>
          <a:xfrm xmlns:a="http://schemas.openxmlformats.org/drawingml/2006/main">
            <a:off x="11353800" y="1466850"/>
            <a:ext cx="1295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E5C8A"/>
                </a:solidFill>
              </a:defRPr>
            </a:pPr>
            <a:r>
              <a:rPr sz="1575" b="1">
                <a:solidFill>
                  <a:srgbClr val="1E5C8A"/>
                </a:solidFill>
              </a:rPr>
              <a:t>1.516</a:t>
            </a:r>
          </a:p>
        </p:txBody>
      </p:sp>
      <p:sp>
        <p:nvSpPr>
          <p:cNvPr id="9" name="">
            <a:extLst xmlns:a="http://schemas.openxmlformats.org/drawingml/2006/main">
              <a:ext uri="{FF2B5EF4-FFF2-40B4-BE49-F238E27FC236}">
                <a16:creationId xmlns:a16="http://schemas.microsoft.com/office/drawing/2014/main" id="{C6F22103-6B42-4BF6-85BB-30590C10CCFC}"/>
              </a:ext>
            </a:extLst>
          </p:cNvPr>
          <p:cNvSpPr>
            <a:spLocks xmlns:a="http://schemas.openxmlformats.org/drawingml/2006/main" noGrp="1"/>
          </p:cNvSpPr>
          <p:nvPr/>
        </p:nvSpPr>
        <p:spPr>
          <a:xfrm xmlns:a="http://schemas.openxmlformats.org/drawingml/2006/main">
            <a:off x="12763500" y="1466850"/>
            <a:ext cx="4724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5C6C7A"/>
                </a:solidFill>
              </a:defRPr>
            </a:pPr>
            <a:r>
              <a:rPr sz="1275">
                <a:solidFill>
                  <a:srgbClr val="5C6C7A"/>
                </a:solidFill>
              </a:rPr>
              <a:t>Model error in USD; baseline is 1.536</a:t>
            </a:r>
          </a:p>
        </p:txBody>
      </p:sp>
      <p:sp>
        <p:nvSpPr>
          <p:cNvPr id="10" name="">
            <a:extLst xmlns:a="http://schemas.openxmlformats.org/drawingml/2006/main">
              <a:ext uri="{FF2B5EF4-FFF2-40B4-BE49-F238E27FC236}">
                <a16:creationId xmlns:a16="http://schemas.microsoft.com/office/drawing/2014/main" id="{A45515E5-ACAF-495D-945D-F4DE212DB292}"/>
              </a:ext>
            </a:extLst>
          </p:cNvPr>
          <p:cNvSpPr>
            <a:spLocks xmlns:a="http://schemas.openxmlformats.org/drawingml/2006/main" noGrp="1"/>
          </p:cNvSpPr>
          <p:nvPr/>
        </p:nvSpPr>
        <p:spPr>
          <a:xfrm xmlns:a="http://schemas.openxmlformats.org/drawingml/2006/main">
            <a:off x="9791700" y="1828800"/>
            <a:ext cx="14287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b="1">
                <a:solidFill>
                  <a:srgbClr val="10202E"/>
                </a:solidFill>
              </a:defRPr>
            </a:pPr>
            <a:r>
              <a:rPr sz="1425" b="1">
                <a:solidFill>
                  <a:srgbClr val="10202E"/>
                </a:solidFill>
              </a:rPr>
              <a:t>MAPE</a:t>
            </a:r>
          </a:p>
        </p:txBody>
      </p:sp>
      <p:sp>
        <p:nvSpPr>
          <p:cNvPr id="11" name="">
            <a:extLst xmlns:a="http://schemas.openxmlformats.org/drawingml/2006/main">
              <a:ext uri="{FF2B5EF4-FFF2-40B4-BE49-F238E27FC236}">
                <a16:creationId xmlns:a16="http://schemas.microsoft.com/office/drawing/2014/main" id="{FFA29ED3-6BA2-4A8E-B395-51AD87C3EF35}"/>
              </a:ext>
            </a:extLst>
          </p:cNvPr>
          <p:cNvSpPr>
            <a:spLocks xmlns:a="http://schemas.openxmlformats.org/drawingml/2006/main" noGrp="1"/>
          </p:cNvSpPr>
          <p:nvPr/>
        </p:nvSpPr>
        <p:spPr>
          <a:xfrm xmlns:a="http://schemas.openxmlformats.org/drawingml/2006/main">
            <a:off x="11353800" y="1828800"/>
            <a:ext cx="1295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C58A1A"/>
                </a:solidFill>
              </a:defRPr>
            </a:pPr>
            <a:r>
              <a:rPr sz="1575" b="1">
                <a:solidFill>
                  <a:srgbClr val="C58A1A"/>
                </a:solidFill>
              </a:rPr>
              <a:t>1.463%</a:t>
            </a:r>
          </a:p>
        </p:txBody>
      </p:sp>
      <p:sp>
        <p:nvSpPr>
          <p:cNvPr id="12" name="">
            <a:extLst xmlns:a="http://schemas.openxmlformats.org/drawingml/2006/main">
              <a:ext uri="{FF2B5EF4-FFF2-40B4-BE49-F238E27FC236}">
                <a16:creationId xmlns:a16="http://schemas.microsoft.com/office/drawing/2014/main" id="{5B68570E-5171-4195-96CC-459B1AE28CBC}"/>
              </a:ext>
            </a:extLst>
          </p:cNvPr>
          <p:cNvSpPr>
            <a:spLocks xmlns:a="http://schemas.openxmlformats.org/drawingml/2006/main" noGrp="1"/>
          </p:cNvSpPr>
          <p:nvPr/>
        </p:nvSpPr>
        <p:spPr>
          <a:xfrm xmlns:a="http://schemas.openxmlformats.org/drawingml/2006/main">
            <a:off x="12763500" y="1828800"/>
            <a:ext cx="4724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5C6C7A"/>
                </a:solidFill>
              </a:defRPr>
            </a:pPr>
            <a:r>
              <a:rPr sz="1275">
                <a:solidFill>
                  <a:srgbClr val="5C6C7A"/>
                </a:solidFill>
              </a:rPr>
              <a:t>Percent error on chronological test rows</a:t>
            </a:r>
          </a:p>
        </p:txBody>
      </p:sp>
      <p:sp>
        <p:nvSpPr>
          <p:cNvPr id="13" name="">
            <a:extLst xmlns:a="http://schemas.openxmlformats.org/drawingml/2006/main">
              <a:ext uri="{FF2B5EF4-FFF2-40B4-BE49-F238E27FC236}">
                <a16:creationId xmlns:a16="http://schemas.microsoft.com/office/drawing/2014/main" id="{3134F753-33AD-442E-94FC-378BD2AEF721}"/>
              </a:ext>
            </a:extLst>
          </p:cNvPr>
          <p:cNvSpPr>
            <a:spLocks xmlns:a="http://schemas.openxmlformats.org/drawingml/2006/main" noGrp="1"/>
          </p:cNvSpPr>
          <p:nvPr/>
        </p:nvSpPr>
        <p:spPr>
          <a:xfrm xmlns:a="http://schemas.openxmlformats.org/drawingml/2006/main">
            <a:off x="9791700" y="2209800"/>
            <a:ext cx="14287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b="1">
                <a:solidFill>
                  <a:srgbClr val="10202E"/>
                </a:solidFill>
              </a:defRPr>
            </a:pPr>
            <a:r>
              <a:rPr sz="1425" b="1">
                <a:solidFill>
                  <a:srgbClr val="10202E"/>
                </a:solidFill>
              </a:rPr>
              <a:t>R-squared</a:t>
            </a:r>
          </a:p>
        </p:txBody>
      </p:sp>
      <p:sp>
        <p:nvSpPr>
          <p:cNvPr id="14" name="">
            <a:extLst xmlns:a="http://schemas.openxmlformats.org/drawingml/2006/main">
              <a:ext uri="{FF2B5EF4-FFF2-40B4-BE49-F238E27FC236}">
                <a16:creationId xmlns:a16="http://schemas.microsoft.com/office/drawing/2014/main" id="{FF7D90A5-BB8A-4A6A-A2DC-0EE8F0C379E1}"/>
              </a:ext>
            </a:extLst>
          </p:cNvPr>
          <p:cNvSpPr>
            <a:spLocks xmlns:a="http://schemas.openxmlformats.org/drawingml/2006/main" noGrp="1"/>
          </p:cNvSpPr>
          <p:nvPr/>
        </p:nvSpPr>
        <p:spPr>
          <a:xfrm xmlns:a="http://schemas.openxmlformats.org/drawingml/2006/main">
            <a:off x="11353800" y="2209800"/>
            <a:ext cx="1295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B65B4B"/>
                </a:solidFill>
              </a:defRPr>
            </a:pPr>
            <a:r>
              <a:rPr sz="1575" b="1">
                <a:solidFill>
                  <a:srgbClr val="B65B4B"/>
                </a:solidFill>
              </a:rPr>
              <a:t>0.967</a:t>
            </a:r>
          </a:p>
        </p:txBody>
      </p:sp>
      <p:sp>
        <p:nvSpPr>
          <p:cNvPr id="15" name="">
            <a:extLst xmlns:a="http://schemas.openxmlformats.org/drawingml/2006/main">
              <a:ext uri="{FF2B5EF4-FFF2-40B4-BE49-F238E27FC236}">
                <a16:creationId xmlns:a16="http://schemas.microsoft.com/office/drawing/2014/main" id="{2B30844A-E6FC-4F00-BAB1-53B0C125B9F6}"/>
              </a:ext>
            </a:extLst>
          </p:cNvPr>
          <p:cNvSpPr>
            <a:spLocks xmlns:a="http://schemas.openxmlformats.org/drawingml/2006/main" noGrp="1"/>
          </p:cNvSpPr>
          <p:nvPr/>
        </p:nvSpPr>
        <p:spPr>
          <a:xfrm xmlns:a="http://schemas.openxmlformats.org/drawingml/2006/main">
            <a:off x="12763500" y="2209800"/>
            <a:ext cx="4724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a:solidFill>
                  <a:srgbClr val="5C6C7A"/>
                </a:solidFill>
              </a:defRPr>
            </a:pPr>
            <a:r>
              <a:rPr sz="1275">
                <a:solidFill>
                  <a:srgbClr val="5C6C7A"/>
                </a:solidFill>
              </a:rPr>
              <a:t>Variance explained on future holdout rows</a:t>
            </a:r>
          </a:p>
        </p:txBody>
      </p:sp>
      <p:sp>
        <p:nvSpPr>
          <p:cNvPr id="16" name="">
            <a:extLst xmlns:a="http://schemas.openxmlformats.org/drawingml/2006/main">
              <a:ext uri="{FF2B5EF4-FFF2-40B4-BE49-F238E27FC236}">
                <a16:creationId xmlns:a16="http://schemas.microsoft.com/office/drawing/2014/main" id="{8E1183AB-F392-409E-A4C5-6F0385E4ADE9}"/>
              </a:ext>
            </a:extLst>
          </p:cNvPr>
          <p:cNvSpPr>
            <a:spLocks xmlns:a="http://schemas.openxmlformats.org/drawingml/2006/main" noGrp="1"/>
          </p:cNvSpPr>
          <p:nvPr/>
        </p:nvSpPr>
        <p:spPr>
          <a:xfrm xmlns:a="http://schemas.openxmlformats.org/drawingml/2006/main">
            <a:off x="9791700" y="2571750"/>
            <a:ext cx="76962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5C6C7A"/>
                </a:solidFill>
              </a:defRPr>
            </a:pPr>
            <a:r>
              <a:rPr sz="1125">
                <a:solidFill>
                  <a:srgbClr val="5C6C7A"/>
                </a:solidFill>
              </a:rPr>
              <a:t>Baseline = previous trading-day Brent price.</a:t>
            </a:r>
          </a:p>
        </p:txBody>
      </p:sp>
      <p:sp>
        <p:nvSpPr>
          <p:cNvPr id="17" name="">
            <a:extLst xmlns:a="http://schemas.openxmlformats.org/drawingml/2006/main">
              <a:ext uri="{FF2B5EF4-FFF2-40B4-BE49-F238E27FC236}">
                <a16:creationId xmlns:a16="http://schemas.microsoft.com/office/drawing/2014/main" id="{BB048053-1845-4581-9154-CEBB4CBDC1F7}"/>
              </a:ext>
            </a:extLst>
          </p:cNvPr>
          <p:cNvSpPr>
            <a:spLocks xmlns:a="http://schemas.openxmlformats.org/drawingml/2006/main" noGrp="1"/>
          </p:cNvSpPr>
          <p:nvPr/>
        </p:nvSpPr>
        <p:spPr>
          <a:xfrm xmlns:a="http://schemas.openxmlformats.org/drawingml/2006/main">
            <a:off x="800100" y="3009900"/>
            <a:ext cx="85153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E5C8A"/>
                </a:solidFill>
              </a:defRPr>
            </a:pPr>
            <a:r>
              <a:rPr sz="4350" b="1">
                <a:solidFill>
                  <a:srgbClr val="1E5C8A"/>
                </a:solidFill>
              </a:rPr>
              <a:t>1.516</a:t>
            </a:r>
          </a:p>
        </p:txBody>
      </p:sp>
      <p:sp>
        <p:nvSpPr>
          <p:cNvPr id="18" name="">
            <a:extLst xmlns:a="http://schemas.openxmlformats.org/drawingml/2006/main">
              <a:ext uri="{FF2B5EF4-FFF2-40B4-BE49-F238E27FC236}">
                <a16:creationId xmlns:a16="http://schemas.microsoft.com/office/drawing/2014/main" id="{0CAB88C5-CA61-497B-B468-AA59F274AD72}"/>
              </a:ext>
            </a:extLst>
          </p:cNvPr>
          <p:cNvSpPr>
            <a:spLocks xmlns:a="http://schemas.openxmlformats.org/drawingml/2006/main" noGrp="1"/>
          </p:cNvSpPr>
          <p:nvPr/>
        </p:nvSpPr>
        <p:spPr>
          <a:xfrm xmlns:a="http://schemas.openxmlformats.org/drawingml/2006/main">
            <a:off x="800100" y="3714750"/>
            <a:ext cx="85153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test RMSE, USD</a:t>
            </a:r>
          </a:p>
        </p:txBody>
      </p:sp>
      <p:sp>
        <p:nvSpPr>
          <p:cNvPr id="19" name="">
            <a:extLst xmlns:a="http://schemas.openxmlformats.org/drawingml/2006/main">
              <a:ext uri="{FF2B5EF4-FFF2-40B4-BE49-F238E27FC236}">
                <a16:creationId xmlns:a16="http://schemas.microsoft.com/office/drawing/2014/main" id="{32CFBFA5-217B-422B-A3D2-3093DE521E7C}"/>
              </a:ext>
            </a:extLst>
          </p:cNvPr>
          <p:cNvSpPr>
            <a:spLocks xmlns:a="http://schemas.openxmlformats.org/drawingml/2006/main" noGrp="1"/>
          </p:cNvSpPr>
          <p:nvPr/>
        </p:nvSpPr>
        <p:spPr>
          <a:xfrm xmlns:a="http://schemas.openxmlformats.org/drawingml/2006/main">
            <a:off x="800100" y="4191000"/>
            <a:ext cx="85153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1F8A7B"/>
                </a:solidFill>
              </a:defRPr>
            </a:pPr>
            <a:r>
              <a:rPr sz="4350" b="1">
                <a:solidFill>
                  <a:srgbClr val="1F8A7B"/>
                </a:solidFill>
              </a:rPr>
              <a:t>1.118</a:t>
            </a:r>
          </a:p>
        </p:txBody>
      </p:sp>
      <p:sp>
        <p:nvSpPr>
          <p:cNvPr id="20" name="">
            <a:extLst xmlns:a="http://schemas.openxmlformats.org/drawingml/2006/main">
              <a:ext uri="{FF2B5EF4-FFF2-40B4-BE49-F238E27FC236}">
                <a16:creationId xmlns:a16="http://schemas.microsoft.com/office/drawing/2014/main" id="{6BAB8E81-8755-4D0A-8B43-C4F09D09361C}"/>
              </a:ext>
            </a:extLst>
          </p:cNvPr>
          <p:cNvSpPr>
            <a:spLocks xmlns:a="http://schemas.openxmlformats.org/drawingml/2006/main" noGrp="1"/>
          </p:cNvSpPr>
          <p:nvPr/>
        </p:nvSpPr>
        <p:spPr>
          <a:xfrm xmlns:a="http://schemas.openxmlformats.org/drawingml/2006/main">
            <a:off x="800100" y="4895850"/>
            <a:ext cx="85153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test MAE, USD</a:t>
            </a:r>
          </a:p>
        </p:txBody>
      </p:sp>
      <p:sp>
        <p:nvSpPr>
          <p:cNvPr id="21" name="">
            <a:extLst xmlns:a="http://schemas.openxmlformats.org/drawingml/2006/main">
              <a:ext uri="{FF2B5EF4-FFF2-40B4-BE49-F238E27FC236}">
                <a16:creationId xmlns:a16="http://schemas.microsoft.com/office/drawing/2014/main" id="{F3D94BCD-6DC1-4CB7-8F83-268173773F24}"/>
              </a:ext>
            </a:extLst>
          </p:cNvPr>
          <p:cNvSpPr>
            <a:spLocks xmlns:a="http://schemas.openxmlformats.org/drawingml/2006/main" noGrp="1"/>
          </p:cNvSpPr>
          <p:nvPr/>
        </p:nvSpPr>
        <p:spPr>
          <a:xfrm xmlns:a="http://schemas.openxmlformats.org/drawingml/2006/main">
            <a:off x="800100" y="5372100"/>
            <a:ext cx="85153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350" b="1">
                <a:solidFill>
                  <a:srgbClr val="C58A1A"/>
                </a:solidFill>
              </a:defRPr>
            </a:pPr>
            <a:r>
              <a:rPr sz="4350" b="1">
                <a:solidFill>
                  <a:srgbClr val="C58A1A"/>
                </a:solidFill>
              </a:rPr>
              <a:t>0.967</a:t>
            </a:r>
          </a:p>
        </p:txBody>
      </p:sp>
      <p:sp>
        <p:nvSpPr>
          <p:cNvPr id="22" name="">
            <a:extLst xmlns:a="http://schemas.openxmlformats.org/drawingml/2006/main">
              <a:ext uri="{FF2B5EF4-FFF2-40B4-BE49-F238E27FC236}">
                <a16:creationId xmlns:a16="http://schemas.microsoft.com/office/drawing/2014/main" id="{DEAB8E95-4E49-4B0C-B047-033D22075C33}"/>
              </a:ext>
            </a:extLst>
          </p:cNvPr>
          <p:cNvSpPr>
            <a:spLocks xmlns:a="http://schemas.openxmlformats.org/drawingml/2006/main" noGrp="1"/>
          </p:cNvSpPr>
          <p:nvPr/>
        </p:nvSpPr>
        <p:spPr>
          <a:xfrm xmlns:a="http://schemas.openxmlformats.org/drawingml/2006/main">
            <a:off x="800100" y="6057900"/>
            <a:ext cx="85153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a:solidFill>
                  <a:srgbClr val="5C6C7A"/>
                </a:solidFill>
              </a:defRPr>
            </a:pPr>
            <a:r>
              <a:rPr sz="1350">
                <a:solidFill>
                  <a:srgbClr val="5C6C7A"/>
                </a:solidFill>
              </a:rPr>
              <a:t>test R-squared</a:t>
            </a:r>
          </a:p>
        </p:txBody>
      </p:sp>
      <p:sp>
        <p:nvSpPr>
          <p:cNvPr id="23" name="">
            <a:extLst xmlns:a="http://schemas.openxmlformats.org/drawingml/2006/main">
              <a:ext uri="{FF2B5EF4-FFF2-40B4-BE49-F238E27FC236}">
                <a16:creationId xmlns:a16="http://schemas.microsoft.com/office/drawing/2014/main" id="{371543ED-218B-4713-BD40-5D3056B44E4D}"/>
              </a:ext>
            </a:extLst>
          </p:cNvPr>
          <p:cNvSpPr>
            <a:spLocks xmlns:a="http://schemas.openxmlformats.org/drawingml/2006/main" noGrp="1"/>
          </p:cNvSpPr>
          <p:nvPr/>
        </p:nvSpPr>
        <p:spPr>
          <a:xfrm xmlns:a="http://schemas.openxmlformats.org/drawingml/2006/main">
            <a:off x="800100" y="6534150"/>
            <a:ext cx="85153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The result is credible because it is evaluated on a future holdout period, not a shuffled split.</a:t>
            </a:r>
          </a:p>
        </p:txBody>
      </p:sp>
    </p:spTree>
    <p:extLst>
      <p:ext uri="{BB962C8B-B14F-4D97-AF65-F5344CB8AC3E}">
        <p14:creationId xmlns:p14="http://schemas.microsoft.com/office/powerpoint/2010/main" val="99637908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0BDD1A10-E6BD-43C7-AB87-847245640400}"/>
              </a:ext>
            </a:extLst>
          </p:cNvPr>
          <p:cNvSpPr>
            <a:spLocks xmlns:a="http://schemas.openxmlformats.org/drawingml/2006/main" noGrp="1"/>
          </p:cNvSpPr>
          <p:nvPr/>
        </p:nvSpPr>
        <p:spPr>
          <a:xfrm xmlns:a="http://schemas.openxmlformats.org/drawingml/2006/main">
            <a:off x="800100" y="609600"/>
            <a:ext cx="166878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a:solidFill>
                  <a:srgbClr val="10202E"/>
                </a:solidFill>
              </a:defRPr>
            </a:pPr>
            <a:r>
              <a:rPr sz="4050" b="1">
                <a:solidFill>
                  <a:srgbClr val="10202E"/>
                </a:solidFill>
              </a:rPr>
              <a:t>The handoff is reproducible</a:t>
            </a:r>
          </a:p>
        </p:txBody>
      </p:sp>
      <p:sp>
        <p:nvSpPr>
          <p:cNvPr id="2" name="slide-subtitle">
            <a:extLst xmlns:a="http://schemas.openxmlformats.org/drawingml/2006/main">
              <a:ext uri="{FF2B5EF4-FFF2-40B4-BE49-F238E27FC236}">
                <a16:creationId xmlns:a16="http://schemas.microsoft.com/office/drawing/2014/main" id="{7D44E320-D8CD-468A-AF12-61AC3ED8DF0C}"/>
              </a:ext>
            </a:extLst>
          </p:cNvPr>
          <p:cNvSpPr>
            <a:spLocks xmlns:a="http://schemas.openxmlformats.org/drawingml/2006/main" noGrp="1"/>
          </p:cNvSpPr>
          <p:nvPr/>
        </p:nvSpPr>
        <p:spPr>
          <a:xfrm xmlns:a="http://schemas.openxmlformats.org/drawingml/2006/main">
            <a:off x="800100" y="1333500"/>
            <a:ext cx="68389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5C6C7A"/>
                </a:solidFill>
              </a:defRPr>
            </a:pPr>
            <a:r>
              <a:rPr sz="1800">
                <a:solidFill>
                  <a:srgbClr val="5C6C7A"/>
                </a:solidFill>
              </a:rPr>
              <a:t>Everything needed to load, train, predict, and present is in the workspace.</a:t>
            </a:r>
          </a:p>
        </p:txBody>
      </p:sp>
      <p:sp>
        <p:nvSpPr>
          <p:cNvPr id="3" name="">
            <a:extLst xmlns:a="http://schemas.openxmlformats.org/drawingml/2006/main">
              <a:ext uri="{FF2B5EF4-FFF2-40B4-BE49-F238E27FC236}">
                <a16:creationId xmlns:a16="http://schemas.microsoft.com/office/drawing/2014/main" id="{D85AD9B3-9D7A-485E-B782-1A7A16492803}"/>
              </a:ext>
            </a:extLst>
          </p:cNvPr>
          <p:cNvSpPr>
            <a:spLocks xmlns:a="http://schemas.openxmlformats.org/drawingml/2006/main" noGrp="1"/>
          </p:cNvSpPr>
          <p:nvPr/>
        </p:nvSpPr>
        <p:spPr>
          <a:xfrm xmlns:a="http://schemas.openxmlformats.org/drawingml/2006/main">
            <a:off x="800100" y="1962150"/>
            <a:ext cx="81153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1E5C8A"/>
                </a:solidFill>
              </a:defRPr>
            </a:pPr>
            <a:r>
              <a:rPr sz="2550" b="1">
                <a:solidFill>
                  <a:srgbClr val="1E5C8A"/>
                </a:solidFill>
              </a:rPr>
              <a:t>Run path</a:t>
            </a:r>
          </a:p>
        </p:txBody>
      </p:sp>
      <p:sp>
        <p:nvSpPr>
          <p:cNvPr id="4" name="">
            <a:extLst xmlns:a="http://schemas.openxmlformats.org/drawingml/2006/main">
              <a:ext uri="{FF2B5EF4-FFF2-40B4-BE49-F238E27FC236}">
                <a16:creationId xmlns:a16="http://schemas.microsoft.com/office/drawing/2014/main" id="{1E0BBF75-B12E-486A-8EEB-8143EBC1C92C}"/>
              </a:ext>
            </a:extLst>
          </p:cNvPr>
          <p:cNvSpPr>
            <a:spLocks xmlns:a="http://schemas.openxmlformats.org/drawingml/2006/main" noGrp="1"/>
          </p:cNvSpPr>
          <p:nvPr/>
        </p:nvSpPr>
        <p:spPr>
          <a:xfrm xmlns:a="http://schemas.openxmlformats.org/drawingml/2006/main">
            <a:off x="800100" y="2514600"/>
            <a:ext cx="8115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python -m pip install -r requirements.txt</a:t>
            </a:r>
          </a:p>
        </p:txBody>
      </p:sp>
      <p:sp>
        <p:nvSpPr>
          <p:cNvPr id="5" name="">
            <a:extLst xmlns:a="http://schemas.openxmlformats.org/drawingml/2006/main">
              <a:ext uri="{FF2B5EF4-FFF2-40B4-BE49-F238E27FC236}">
                <a16:creationId xmlns:a16="http://schemas.microsoft.com/office/drawing/2014/main" id="{E91C92D3-DF68-4D6D-9DBC-1C7247B6ABC4}"/>
              </a:ext>
            </a:extLst>
          </p:cNvPr>
          <p:cNvSpPr>
            <a:spLocks xmlns:a="http://schemas.openxmlformats.org/drawingml/2006/main" noGrp="1"/>
          </p:cNvSpPr>
          <p:nvPr/>
        </p:nvSpPr>
        <p:spPr>
          <a:xfrm xmlns:a="http://schemas.openxmlformats.org/drawingml/2006/main">
            <a:off x="800100" y="2952750"/>
            <a:ext cx="8115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python src\load_mysql.py --replace</a:t>
            </a:r>
          </a:p>
        </p:txBody>
      </p:sp>
      <p:sp>
        <p:nvSpPr>
          <p:cNvPr id="6" name="">
            <a:extLst xmlns:a="http://schemas.openxmlformats.org/drawingml/2006/main">
              <a:ext uri="{FF2B5EF4-FFF2-40B4-BE49-F238E27FC236}">
                <a16:creationId xmlns:a16="http://schemas.microsoft.com/office/drawing/2014/main" id="{3136AE7F-67A5-4C07-B937-26216BF338E0}"/>
              </a:ext>
            </a:extLst>
          </p:cNvPr>
          <p:cNvSpPr>
            <a:spLocks xmlns:a="http://schemas.openxmlformats.org/drawingml/2006/main" noGrp="1"/>
          </p:cNvSpPr>
          <p:nvPr/>
        </p:nvSpPr>
        <p:spPr>
          <a:xfrm xmlns:a="http://schemas.openxmlformats.org/drawingml/2006/main">
            <a:off x="800100" y="3371850"/>
            <a:ext cx="8115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python src\train_oil_model.py</a:t>
            </a:r>
          </a:p>
        </p:txBody>
      </p:sp>
      <p:sp>
        <p:nvSpPr>
          <p:cNvPr id="7" name="">
            <a:extLst xmlns:a="http://schemas.openxmlformats.org/drawingml/2006/main">
              <a:ext uri="{FF2B5EF4-FFF2-40B4-BE49-F238E27FC236}">
                <a16:creationId xmlns:a16="http://schemas.microsoft.com/office/drawing/2014/main" id="{F1827F1D-04EF-4167-8595-F2DBEE54FF28}"/>
              </a:ext>
            </a:extLst>
          </p:cNvPr>
          <p:cNvSpPr>
            <a:spLocks xmlns:a="http://schemas.openxmlformats.org/drawingml/2006/main" noGrp="1"/>
          </p:cNvSpPr>
          <p:nvPr/>
        </p:nvSpPr>
        <p:spPr>
          <a:xfrm xmlns:a="http://schemas.openxmlformats.org/drawingml/2006/main">
            <a:off x="800100" y="3790950"/>
            <a:ext cx="8115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python src\predict_oil_price.py</a:t>
            </a:r>
          </a:p>
        </p:txBody>
      </p:sp>
      <p:sp>
        <p:nvSpPr>
          <p:cNvPr id="8" name="">
            <a:extLst xmlns:a="http://schemas.openxmlformats.org/drawingml/2006/main">
              <a:ext uri="{FF2B5EF4-FFF2-40B4-BE49-F238E27FC236}">
                <a16:creationId xmlns:a16="http://schemas.microsoft.com/office/drawing/2014/main" id="{E5BBCDFF-7E18-4409-AA61-26D4E6EED3E4}"/>
              </a:ext>
            </a:extLst>
          </p:cNvPr>
          <p:cNvSpPr>
            <a:spLocks xmlns:a="http://schemas.openxmlformats.org/drawingml/2006/main" noGrp="1"/>
          </p:cNvSpPr>
          <p:nvPr/>
        </p:nvSpPr>
        <p:spPr>
          <a:xfrm xmlns:a="http://schemas.openxmlformats.org/drawingml/2006/main">
            <a:off x="9391650" y="1962150"/>
            <a:ext cx="81153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1F8A7B"/>
                </a:solidFill>
              </a:defRPr>
            </a:pPr>
            <a:r>
              <a:rPr sz="2550" b="1">
                <a:solidFill>
                  <a:srgbClr val="1F8A7B"/>
                </a:solidFill>
              </a:rPr>
              <a:t>Deliverables</a:t>
            </a:r>
          </a:p>
        </p:txBody>
      </p:sp>
      <p:sp>
        <p:nvSpPr>
          <p:cNvPr id="9" name="">
            <a:extLst xmlns:a="http://schemas.openxmlformats.org/drawingml/2006/main">
              <a:ext uri="{FF2B5EF4-FFF2-40B4-BE49-F238E27FC236}">
                <a16:creationId xmlns:a16="http://schemas.microsoft.com/office/drawing/2014/main" id="{D5CF6D55-B16C-43F8-B060-E125525CF96C}"/>
              </a:ext>
            </a:extLst>
          </p:cNvPr>
          <p:cNvSpPr>
            <a:spLocks xmlns:a="http://schemas.openxmlformats.org/drawingml/2006/main" noGrp="1"/>
          </p:cNvSpPr>
          <p:nvPr/>
        </p:nvSpPr>
        <p:spPr>
          <a:xfrm xmlns:a="http://schemas.openxmlformats.org/drawingml/2006/main">
            <a:off x="9391650" y="2514600"/>
            <a:ext cx="8115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MySQL loader and views</a:t>
            </a:r>
          </a:p>
        </p:txBody>
      </p:sp>
      <p:sp>
        <p:nvSpPr>
          <p:cNvPr id="10" name="">
            <a:extLst xmlns:a="http://schemas.openxmlformats.org/drawingml/2006/main">
              <a:ext uri="{FF2B5EF4-FFF2-40B4-BE49-F238E27FC236}">
                <a16:creationId xmlns:a16="http://schemas.microsoft.com/office/drawing/2014/main" id="{384430E9-E242-4350-A45B-FED038B42691}"/>
              </a:ext>
            </a:extLst>
          </p:cNvPr>
          <p:cNvSpPr>
            <a:spLocks xmlns:a="http://schemas.openxmlformats.org/drawingml/2006/main" noGrp="1"/>
          </p:cNvSpPr>
          <p:nvPr/>
        </p:nvSpPr>
        <p:spPr>
          <a:xfrm xmlns:a="http://schemas.openxmlformats.org/drawingml/2006/main">
            <a:off x="9391650" y="2952750"/>
            <a:ext cx="8115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Database schema guide</a:t>
            </a:r>
          </a:p>
        </p:txBody>
      </p:sp>
      <p:sp>
        <p:nvSpPr>
          <p:cNvPr id="11" name="">
            <a:extLst xmlns:a="http://schemas.openxmlformats.org/drawingml/2006/main">
              <a:ext uri="{FF2B5EF4-FFF2-40B4-BE49-F238E27FC236}">
                <a16:creationId xmlns:a16="http://schemas.microsoft.com/office/drawing/2014/main" id="{D7862881-5C5C-4EB9-8377-B9CB9BF179E0}"/>
              </a:ext>
            </a:extLst>
          </p:cNvPr>
          <p:cNvSpPr>
            <a:spLocks xmlns:a="http://schemas.openxmlformats.org/drawingml/2006/main" noGrp="1"/>
          </p:cNvSpPr>
          <p:nvPr/>
        </p:nvSpPr>
        <p:spPr>
          <a:xfrm xmlns:a="http://schemas.openxmlformats.org/drawingml/2006/main">
            <a:off x="9391650" y="3371850"/>
            <a:ext cx="8115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Trained sklearn model</a:t>
            </a:r>
          </a:p>
        </p:txBody>
      </p:sp>
      <p:sp>
        <p:nvSpPr>
          <p:cNvPr id="12" name="">
            <a:extLst xmlns:a="http://schemas.openxmlformats.org/drawingml/2006/main">
              <a:ext uri="{FF2B5EF4-FFF2-40B4-BE49-F238E27FC236}">
                <a16:creationId xmlns:a16="http://schemas.microsoft.com/office/drawing/2014/main" id="{02D7BC00-09E9-47BD-85CB-654F6C703095}"/>
              </a:ext>
            </a:extLst>
          </p:cNvPr>
          <p:cNvSpPr>
            <a:spLocks xmlns:a="http://schemas.openxmlformats.org/drawingml/2006/main" noGrp="1"/>
          </p:cNvSpPr>
          <p:nvPr/>
        </p:nvSpPr>
        <p:spPr>
          <a:xfrm xmlns:a="http://schemas.openxmlformats.org/drawingml/2006/main">
            <a:off x="9391650" y="3790950"/>
            <a:ext cx="8115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Markdown/PDF report</a:t>
            </a:r>
          </a:p>
        </p:txBody>
      </p:sp>
      <p:sp>
        <p:nvSpPr>
          <p:cNvPr id="13" name="">
            <a:extLst xmlns:a="http://schemas.openxmlformats.org/drawingml/2006/main">
              <a:ext uri="{FF2B5EF4-FFF2-40B4-BE49-F238E27FC236}">
                <a16:creationId xmlns:a16="http://schemas.microsoft.com/office/drawing/2014/main" id="{C4566472-5273-4035-A1F0-272D9B881300}"/>
              </a:ext>
            </a:extLst>
          </p:cNvPr>
          <p:cNvSpPr>
            <a:spLocks xmlns:a="http://schemas.openxmlformats.org/drawingml/2006/main" noGrp="1"/>
          </p:cNvSpPr>
          <p:nvPr/>
        </p:nvSpPr>
        <p:spPr>
          <a:xfrm xmlns:a="http://schemas.openxmlformats.org/drawingml/2006/main">
            <a:off x="9391650" y="4229100"/>
            <a:ext cx="81153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a:solidFill>
                  <a:srgbClr val="10202E"/>
                </a:solidFill>
              </a:defRPr>
            </a:pPr>
            <a:r>
              <a:rPr sz="1800">
                <a:solidFill>
                  <a:srgbClr val="10202E"/>
                </a:solidFill>
              </a:rPr>
              <a:t>- Editable deck source, PPTX, and PDF</a:t>
            </a:r>
          </a:p>
        </p:txBody>
      </p:sp>
      <p:sp>
        <p:nvSpPr>
          <p:cNvPr id="14" name="">
            <a:extLst xmlns:a="http://schemas.openxmlformats.org/drawingml/2006/main">
              <a:ext uri="{FF2B5EF4-FFF2-40B4-BE49-F238E27FC236}">
                <a16:creationId xmlns:a16="http://schemas.microsoft.com/office/drawing/2014/main" id="{C7B5BCAA-6557-48B8-BAB5-890050BDF369}"/>
              </a:ext>
            </a:extLst>
          </p:cNvPr>
          <p:cNvSpPr>
            <a:spLocks xmlns:a="http://schemas.openxmlformats.org/drawingml/2006/main" noGrp="1"/>
          </p:cNvSpPr>
          <p:nvPr/>
        </p:nvSpPr>
        <p:spPr>
          <a:xfrm xmlns:a="http://schemas.openxmlformats.org/drawingml/2006/main">
            <a:off x="800100" y="9391650"/>
            <a:ext cx="166878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0202E"/>
                </a:solidFill>
              </a:defRPr>
            </a:pPr>
            <a:r>
              <a:rPr sz="1875" b="1">
                <a:solidFill>
                  <a:srgbClr val="10202E"/>
                </a:solidFill>
              </a:rPr>
              <a:t>Next improvements: foreign keys and indexes, dashboarding from views, rolling-window validation, and model prediction tables in MySQL.</a:t>
            </a:r>
          </a:p>
        </p:txBody>
      </p:sp>
    </p:spTree>
    <p:extLst>
      <p:ext uri="{BB962C8B-B14F-4D97-AF65-F5344CB8AC3E}">
        <p14:creationId xmlns:p14="http://schemas.microsoft.com/office/powerpoint/2010/main" val="4366854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2026-05-07T01:52:43.4640000Z</dcterms:created>
  <dcterms:modified xsi:type="dcterms:W3CDTF">2026-05-07T01:52:43.4640000Z</dcterms:modified>
</coreProperties>
</file>