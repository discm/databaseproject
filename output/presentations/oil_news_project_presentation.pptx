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b54c2858344728" /><Relationship Type="http://schemas.openxmlformats.org/officeDocument/2006/relationships/extended-properties" Target="/docProps/app.xml" Id="R00a2f9010bec4333" /><Relationship Type="http://schemas.openxmlformats.org/officeDocument/2006/relationships/officeDocument" Target="/ppt/presentation.xml" Id="R5926f630b1ae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61dc74eec44053"/>
  </p:sldMasterIdLst>
  <p:notesMasterIdLst>
    <p:notesMasterId xmlns:r="http://schemas.openxmlformats.org/officeDocument/2006/relationships" r:id="R1476fe03e07c43fb"/>
  </p:notesMasterIdLst>
  <p:sldIdLst>
    <p:sldId xmlns:r="http://schemas.openxmlformats.org/officeDocument/2006/relationships" id="256" r:id="R4c1b87d7c4e54ff9"/>
    <p:sldId xmlns:r="http://schemas.openxmlformats.org/officeDocument/2006/relationships" id="257" r:id="R56acbf02cc8c46c9"/>
    <p:sldId xmlns:r="http://schemas.openxmlformats.org/officeDocument/2006/relationships" id="258" r:id="R700c1129f57e48a0"/>
    <p:sldId xmlns:r="http://schemas.openxmlformats.org/officeDocument/2006/relationships" id="259" r:id="R964501b04ebb4ab0"/>
    <p:sldId xmlns:r="http://schemas.openxmlformats.org/officeDocument/2006/relationships" id="260" r:id="R46cf736f74ec498f"/>
    <p:sldId xmlns:r="http://schemas.openxmlformats.org/officeDocument/2006/relationships" id="261" r:id="Re5563923b6e549f6"/>
    <p:sldId xmlns:r="http://schemas.openxmlformats.org/officeDocument/2006/relationships" id="262" r:id="Rd2c5445dd53c4209"/>
    <p:sldId xmlns:r="http://schemas.openxmlformats.org/officeDocument/2006/relationships" id="263" r:id="R3e353290819541ed"/>
    <p:sldId xmlns:r="http://schemas.openxmlformats.org/officeDocument/2006/relationships" id="264" r:id="R4c2801011512478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1dc74eec44053" /><Relationship Type="http://schemas.openxmlformats.org/officeDocument/2006/relationships/theme" Target="/ppt/theme/theme1.xml" Id="Reb57cc4c486e4965" /><Relationship Type="http://schemas.openxmlformats.org/officeDocument/2006/relationships/notesMaster" Target="/ppt/notesMasters/notesMaster1.xml" Id="R1476fe03e07c43fb" /><Relationship Type="http://schemas.openxmlformats.org/officeDocument/2006/relationships/presProps" Target="/ppt/presProps.xml" Id="R06da3327a1fc4443" /><Relationship Type="http://schemas.openxmlformats.org/officeDocument/2006/relationships/viewProps" Target="/ppt/viewProps.xml" Id="R46513aea64864b8f" /><Relationship Type="http://schemas.openxmlformats.org/officeDocument/2006/relationships/tableStyles" Target="/ppt/tableStyles.xml" Id="Raf2ad63fec5d4f01" /><Relationship Type="http://schemas.openxmlformats.org/officeDocument/2006/relationships/slide" Target="/ppt/slides/slide1.xml" Id="R4c1b87d7c4e54ff9" /><Relationship Type="http://schemas.openxmlformats.org/officeDocument/2006/relationships/slide" Target="/ppt/slides/slide2.xml" Id="R56acbf02cc8c46c9" /><Relationship Type="http://schemas.openxmlformats.org/officeDocument/2006/relationships/slide" Target="/ppt/slides/slide3.xml" Id="R700c1129f57e48a0" /><Relationship Type="http://schemas.openxmlformats.org/officeDocument/2006/relationships/slide" Target="/ppt/slides/slide4.xml" Id="R964501b04ebb4ab0" /><Relationship Type="http://schemas.openxmlformats.org/officeDocument/2006/relationships/slide" Target="/ppt/slides/slide5.xml" Id="R46cf736f74ec498f" /><Relationship Type="http://schemas.openxmlformats.org/officeDocument/2006/relationships/slide" Target="/ppt/slides/slide6.xml" Id="Re5563923b6e549f6" /><Relationship Type="http://schemas.openxmlformats.org/officeDocument/2006/relationships/slide" Target="/ppt/slides/slide7.xml" Id="Rd2c5445dd53c4209" /><Relationship Type="http://schemas.openxmlformats.org/officeDocument/2006/relationships/slide" Target="/ppt/slides/slide8.xml" Id="R3e353290819541ed" /><Relationship Type="http://schemas.openxmlformats.org/officeDocument/2006/relationships/slide" Target="/ppt/slides/slide9.xml" Id="R4c280101151247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df40a854744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40dfe2b25640b1" /><Relationship Type="http://schemas.openxmlformats.org/officeDocument/2006/relationships/notesMaster" Target="/ppt/notesMasters/notesMaster1.xml" Id="Reae7acd68a2649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4de0b3ed8c4995" /><Relationship Type="http://schemas.openxmlformats.org/officeDocument/2006/relationships/notesMaster" Target="/ppt/notesMasters/notesMaster1.xml" Id="R64e4a120643f42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eadb68604c4083" /><Relationship Type="http://schemas.openxmlformats.org/officeDocument/2006/relationships/notesMaster" Target="/ppt/notesMasters/notesMaster1.xml" Id="R5bf96f53d8c04e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0ebb59cf544dd7" /><Relationship Type="http://schemas.openxmlformats.org/officeDocument/2006/relationships/notesMaster" Target="/ppt/notesMasters/notesMaster1.xml" Id="R54e497549f6c43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8f5fc1b980459d" /><Relationship Type="http://schemas.openxmlformats.org/officeDocument/2006/relationships/notesMaster" Target="/ppt/notesMasters/notesMaster1.xml" Id="Ra4305250e0584a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6964cbc418497b" /><Relationship Type="http://schemas.openxmlformats.org/officeDocument/2006/relationships/notesMaster" Target="/ppt/notesMasters/notesMaster1.xml" Id="R61b88f37411743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1acacafbfc4a31" /><Relationship Type="http://schemas.openxmlformats.org/officeDocument/2006/relationships/notesMaster" Target="/ppt/notesMasters/notesMaster1.xml" Id="Rc005d29a2c7a4e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0e7df10a6c4aa2" /><Relationship Type="http://schemas.openxmlformats.org/officeDocument/2006/relationships/notesMaster" Target="/ppt/notesMasters/notesMaster1.xml" Id="Re9490730ebf6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f385ab04d4413e" /><Relationship Type="http://schemas.openxmlformats.org/officeDocument/2006/relationships/notesMaster" Target="/ppt/notesMasters/notesMaster1.xml" Id="R9266b7f76fc24d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1b996aeb541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998eda8c9643ab" /><Relationship Type="http://schemas.openxmlformats.org/officeDocument/2006/relationships/slideLayout" Target="/ppt/slideLayouts/slideLayout2.xml" Id="R7ca6e893c2cb4e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6e893c2cb4e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b1ccd8a4f74fa4" /><Relationship Type="http://schemas.openxmlformats.org/officeDocument/2006/relationships/notesSlide" Target="/ppt/notesSlides/notesSlide1.xml" Id="R7dbe82d369c2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12fde2da84790" /><Relationship Type="http://schemas.openxmlformats.org/officeDocument/2006/relationships/notesSlide" Target="/ppt/notesSlides/notesSlide2.xml" Id="R6c09d1c4f52a4f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cef2e3554340ed" /><Relationship Type="http://schemas.openxmlformats.org/officeDocument/2006/relationships/notesSlide" Target="/ppt/notesSlides/notesSlide3.xml" Id="R181f1549f91b4b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ad3552e6249ee" /><Relationship Type="http://schemas.openxmlformats.org/officeDocument/2006/relationships/notesSlide" Target="/ppt/notesSlides/notesSlide4.xml" Id="Rbdcc4d5761ff41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998329a3654e21" /><Relationship Type="http://schemas.openxmlformats.org/officeDocument/2006/relationships/notesSlide" Target="/ppt/notesSlides/notesSlide5.xml" Id="R4ed87cf9a63f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0f040b0bcd451d" /><Relationship Type="http://schemas.openxmlformats.org/officeDocument/2006/relationships/notesSlide" Target="/ppt/notesSlides/notesSlide6.xml" Id="Rd4dd90acd7bb47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3d38a7809f435a" /><Relationship Type="http://schemas.openxmlformats.org/officeDocument/2006/relationships/notesSlide" Target="/ppt/notesSlides/notesSlide7.xml" Id="R1daba18742bd49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bf339d2ef4a49" /><Relationship Type="http://schemas.openxmlformats.org/officeDocument/2006/relationships/notesSlide" Target="/ppt/notesSlides/notesSlide8.xml" Id="R31b848a89fa949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89fb04c1245e2" /><Relationship Type="http://schemas.openxmlformats.org/officeDocument/2006/relationships/notesSlide" Target="/ppt/notesSlides/notesSlide9.xml" Id="R360c657876984a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6C6A2-C639-480E-9EBD-8EC9BD2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2950"/>
            <a:ext cx="82486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0202E"/>
                </a:solidFill>
              </a:defRPr>
            </a:pPr>
            <a:r>
              <a:rPr sz="5850" b="1">
                <a:solidFill>
                  <a:srgbClr val="10202E"/>
                </a:solidFill>
              </a:rPr>
              <a:t>Semantic News to Oil Price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67B36-AE48-4055-BD8C-F5C8DA6B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1A"/>
          </a:solidFill>
          <a:ln xmlns:a="http://schemas.openxmlformats.org/drawingml/2006/main" w="0">
            <a:solidFill>
              <a:srgbClr val="C58A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EB03A-42B6-46F2-949A-4ED548F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76771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C6C7A"/>
                </a:solidFill>
              </a:defRPr>
            </a:pPr>
            <a:r>
              <a:rPr sz="2100">
                <a:solidFill>
                  <a:srgbClr val="5C6C7A"/>
                </a:solidFill>
              </a:rPr>
              <a:t>A MySQL-backed analytics project joining geopolitical risk, oil prices, events, and country exposure into a reproducible scikit-learn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2E260-AC49-44EF-9973-265135A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4295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E5C8A"/>
                </a:solidFill>
              </a:defRPr>
            </a:pPr>
            <a:r>
              <a:rPr sz="4350" b="1">
                <a:solidFill>
                  <a:srgbClr val="1E5C8A"/>
                </a:solidFill>
              </a:rPr>
              <a:t>4,047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56517-670E-4B82-B8AE-A2742E60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478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daily market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55077-82E0-42AA-85B8-47010253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1930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8A7B"/>
                </a:solidFill>
              </a:defRPr>
            </a:pPr>
            <a:r>
              <a:rPr sz="4350" b="1">
                <a:solidFill>
                  <a:srgbClr val="1F8A7B"/>
                </a:solidFill>
              </a:rPr>
              <a:t>66,660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51C15-D875-4EDE-BD74-64F7C171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0510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country-month GPR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C9C1B-D4A8-423F-BF55-BBB4A1FD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714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58A1A"/>
                </a:solidFill>
              </a:defRPr>
            </a:pPr>
            <a:r>
              <a:rPr sz="4350" b="1">
                <a:solidFill>
                  <a:srgbClr val="C58A1A"/>
                </a:solidFill>
              </a:rPr>
              <a:t>1.516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A9DE6-DFBA-47A8-90DC-28CBBD6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81450"/>
            <a:ext cx="714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test RMSE, USD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3923C-EF23-4B3C-89C2-0AC70ADD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72600"/>
            <a:ext cx="1657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A"/>
                </a:solidFill>
              </a:defRPr>
            </a:pPr>
            <a:r>
              <a:rPr sz="1125">
                <a:solidFill>
                  <a:srgbClr val="5C6C7A"/>
                </a:solidFill>
              </a:rPr>
              <a:t>DatabaseProject - MySQL - scikit-learn - May 2026</a:t>
            </a:r>
          </a:p>
        </p:txBody>
      </p:sp>
    </p:spTree>
    <p:extLst>
      <p:ext uri="{BB962C8B-B14F-4D97-AF65-F5344CB8AC3E}">
        <p14:creationId xmlns:p14="http://schemas.microsoft.com/office/powerpoint/2010/main" val="613441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E79CB1-028E-4C4E-B858-004CFBA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One workflow, three outputs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15BDD2-3C47-444B-9302-E34DFD1E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891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The source CSVs become a queryable database, analysis surfaces, and predictive model artifacts.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DE60C-A62F-45D9-90F6-28F2191B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35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8A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9917C-778B-430D-BBBA-ED620AF0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3246B-92D3-472E-B9A7-B3582E9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Datasets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0DDA6-8AC3-4DDF-A403-D8FCC950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Semantic news, market prices, events, country 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40183-C6FD-4A92-B03C-3F58E92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5359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8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E836-7661-4A4A-BED3-40521E3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BA6E5-1DCF-4324-B6D4-C7E4F2F9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5740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MySQL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5B8CB-7892-4F4A-B337-0AEB94A5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62200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Operational source tables plus dim/fact reporting 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92475-586D-448C-A258-5DF54DA4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070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8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C7E6D-5054-4E45-AB1E-48182EBE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F4125-21BA-4F65-B265-2F7B9CE3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FF62D-3F96-44C5-8BB9-F1561CE7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Daily oil/news features and event/country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DEEA3-3AB9-4EFD-9006-6C3E0D1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64070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8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6061C-A568-4CAF-90A2-DB2ACCEC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388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7E681-6A35-43D3-8A6E-2849FCE3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38800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4339B-0675-4C5B-9010-0C02D9F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962650"/>
            <a:ext cx="742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StandardScaler -&gt; Ridge Regression for next-day Brent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2716D-3AAD-48DF-B67F-7853736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72600"/>
            <a:ext cx="1668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02E"/>
                </a:solidFill>
              </a:defRPr>
            </a:pPr>
            <a:r>
              <a:rPr sz="1950" b="1">
                <a:solidFill>
                  <a:srgbClr val="10202E"/>
                </a:solidFill>
              </a:rPr>
              <a:t>Final handoff includes scripts, schema docs, trained model, report, PDF, and this deck.</a:t>
            </a:r>
          </a:p>
        </p:txBody>
      </p:sp>
    </p:spTree>
    <p:extLst>
      <p:ext uri="{BB962C8B-B14F-4D97-AF65-F5344CB8AC3E}">
        <p14:creationId xmlns:p14="http://schemas.microsoft.com/office/powerpoint/2010/main" val="8832869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4CE844-20E0-4106-A10B-30C86B36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The data mixes market prices with semantic risk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4AA8AD-B5A0-4E27-B2ED-A959895E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7486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Coverage spans oil prices, GPR/news indices, events, and country-level exposure.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230B6-0CAA-45BB-9615-0210C9F0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2E"/>
                </a:solidFill>
              </a:defRPr>
            </a:pPr>
            <a:r>
              <a:rPr sz="1650" b="1">
                <a:solidFill>
                  <a:srgbClr val="10202E"/>
                </a:solidFill>
              </a:rPr>
              <a:t>ops_market_daily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A271B-E1F1-43BC-9A7C-9D24A9A2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5C8A"/>
                </a:solidFill>
              </a:defRPr>
            </a:pPr>
            <a:r>
              <a:rPr sz="1875" b="1">
                <a:solidFill>
                  <a:srgbClr val="1E5C8A"/>
                </a:solidFill>
              </a:rPr>
              <a:t>4,047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27A7B-8DD4-4F6E-A4FE-B0562ED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Daily Brent/WTI, macro indicators, volatility, lags, and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420EC-F87A-4DE7-A8AB-EAA15FB0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2E"/>
                </a:solidFill>
              </a:defRPr>
            </a:pPr>
            <a:r>
              <a:rPr sz="1650" b="1">
                <a:solidFill>
                  <a:srgbClr val="10202E"/>
                </a:solidFill>
              </a:rPr>
              <a:t>ops_gpr_daily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3D3DE-A592-4491-8B70-13105823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8A7B"/>
                </a:solidFill>
              </a:defRPr>
            </a:pPr>
            <a:r>
              <a:rPr sz="1875" b="1">
                <a:solidFill>
                  <a:srgbClr val="1F8A7B"/>
                </a:solidFill>
              </a:rPr>
              <a:t>15,078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FCA10-60BE-4006-AA09-689DDB18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Daily geopolitical risk/news index and article 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954F5-692F-4C3E-80A9-AB1FFABE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2E"/>
                </a:solidFill>
              </a:defRPr>
            </a:pPr>
            <a:r>
              <a:rPr sz="1650" b="1">
                <a:solidFill>
                  <a:srgbClr val="10202E"/>
                </a:solidFill>
              </a:rPr>
              <a:t>ops_gpr_country_monthly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FBCF8-D4D2-436B-8DD9-25D3B275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58A1A"/>
                </a:solidFill>
              </a:defRPr>
            </a:pPr>
            <a:r>
              <a:rPr sz="1875" b="1">
                <a:solidFill>
                  <a:srgbClr val="C58A1A"/>
                </a:solidFill>
              </a:rPr>
              <a:t>66,660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B1A93-4527-4F36-9ACB-F0E3286A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Country-month geopolitical risk measures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CDC4E-29FB-410E-BF42-140FAA4F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2E"/>
                </a:solidFill>
              </a:defRPr>
            </a:pPr>
            <a:r>
              <a:rPr sz="1650" b="1">
                <a:solidFill>
                  <a:srgbClr val="10202E"/>
                </a:solidFill>
              </a:rPr>
              <a:t>ops_events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65342-EEE2-48C4-890E-B160738B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65B4B"/>
                </a:solidFill>
              </a:defRPr>
            </a:pPr>
            <a:r>
              <a:rPr sz="1875" b="1">
                <a:solidFill>
                  <a:srgbClr val="B65B4B"/>
                </a:solidFill>
              </a:rPr>
              <a:t>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E8D7F-158E-40BF-BCEA-CB385B0E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Named geopolitical, sanctions, disaster, and market 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CFD17-4FBB-43E7-B106-D4C9891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2E"/>
                </a:solidFill>
              </a:defRPr>
            </a:pPr>
            <a:r>
              <a:rPr sz="1650" b="1">
                <a:solidFill>
                  <a:srgbClr val="10202E"/>
                </a:solidFill>
              </a:rPr>
              <a:t>ops_countries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C83DF-D53F-45D5-8CF0-9F51DB6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5C8A"/>
                </a:solidFill>
              </a:defRPr>
            </a:pPr>
            <a:r>
              <a:rPr sz="1875" b="1">
                <a:solidFill>
                  <a:srgbClr val="1E5C8A"/>
                </a:solidFill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6618C-6C65-4634-85A3-F29D171E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7670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Country dimension for impact and petrol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417E2-C0F6-4267-A9E3-9F437BB2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09800"/>
            <a:ext cx="6629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E5C8A"/>
                </a:solidFill>
              </a:defRPr>
            </a:pPr>
            <a:r>
              <a:rPr sz="4350" b="1">
                <a:solidFill>
                  <a:srgbClr val="1E5C8A"/>
                </a:solidFill>
              </a:rPr>
              <a:t>2010-2026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91C36-5A29-4634-8BF9-B5B8D70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1465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market table date span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A229F-5D29-42BA-B1E6-E4923B1A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90900"/>
            <a:ext cx="6629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8A7B"/>
                </a:solidFill>
              </a:defRPr>
            </a:pPr>
            <a:r>
              <a:rPr sz="4350" b="1">
                <a:solidFill>
                  <a:srgbClr val="1F8A7B"/>
                </a:solidFill>
              </a:rPr>
              <a:t>1985-2026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B46FE-B60D-4E72-A038-88CABAE6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0"/>
            <a:ext cx="6629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daily GPR date span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0FA6A-6F9E-4A5E-AE11-F530AD5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52950"/>
            <a:ext cx="662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The modeling table already aligns Brent, WTI, volatility, GPR, event flags, and lag features for supervised learning.</a:t>
            </a:r>
          </a:p>
        </p:txBody>
      </p:sp>
    </p:spTree>
    <p:extLst>
      <p:ext uri="{BB962C8B-B14F-4D97-AF65-F5344CB8AC3E}">
        <p14:creationId xmlns:p14="http://schemas.microsoft.com/office/powerpoint/2010/main" val="16997339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96AD7A-1825-476F-9A22-C2B9D1C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Two database layers keep analysis flexible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26A986-5C7E-4F02-BF9C-6296D29E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819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Operational tables preserve source shape; dimensional tables support BI-style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A53E5-E873-4F43-AAB5-648AB0C5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5C8A"/>
                </a:solidFill>
              </a:defRPr>
            </a:pPr>
            <a:r>
              <a:rPr sz="2550" b="1">
                <a:solidFill>
                  <a:srgbClr val="1E5C8A"/>
                </a:solidFill>
              </a:rPr>
              <a:t>Operational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374B4-4923-4B9F-8E07-494EC9D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ops_market_daily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AF4B9-88D0-4BA9-8ED9-9E13472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ops_gpr_daily and monthly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A45EC-5BEA-4C92-A2CC-A700A4F4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ops_events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2B1AB-AE74-49A4-8FE6-678E3AAC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ops_countries and petrol snapshots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216F0-16B7-4CBC-9384-67C9637F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43100"/>
            <a:ext cx="813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8A7B"/>
                </a:solidFill>
              </a:defRPr>
            </a:pPr>
            <a:r>
              <a:rPr sz="2550" b="1">
                <a:solidFill>
                  <a:srgbClr val="1F8A7B"/>
                </a:solidFill>
              </a:rPr>
              <a:t>Dimensional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A7B48-0A09-46C4-A19A-539D6CA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9555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dim_date, dim_country, dim_event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7B94A-A016-468C-A882-F2843F00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337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fact_market_daily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C2EA7-D93E-4D77-9970-80CD8FF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528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fact_gpr_daily and monthly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BEEB9-70DC-4217-8718-2CB818A0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71900"/>
            <a:ext cx="813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fact_country_impact and petrol prices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F6DEB-B113-4918-BACA-7A71E72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53550"/>
            <a:ext cx="1668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2E"/>
                </a:solidFill>
              </a:defRPr>
            </a:pPr>
            <a:r>
              <a:rPr sz="2100" b="1">
                <a:solidFill>
                  <a:srgbClr val="10202E"/>
                </a:solidFill>
              </a:rPr>
              <a:t>Primary joins: market_date = gpr_date, market_date = event_date, country_id, and iso3.</a:t>
            </a:r>
          </a:p>
        </p:txBody>
      </p:sp>
    </p:spTree>
    <p:extLst>
      <p:ext uri="{BB962C8B-B14F-4D97-AF65-F5344CB8AC3E}">
        <p14:creationId xmlns:p14="http://schemas.microsoft.com/office/powerpoint/2010/main" val="11083149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37EEF5-48FE-4969-AD8E-81C28542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Views turn raw tables into analysis surfaces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13807A-ADFA-48ED-9D10-A92445F3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391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Three MySQL views package the joins needed for modeling, event study, and country impact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FC62C-EE95-4B78-87F0-33190717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E5C8A"/>
                </a:solidFill>
              </a:defRPr>
            </a:pPr>
            <a:r>
              <a:rPr sz="2250" b="1">
                <a:solidFill>
                  <a:srgbClr val="1E5C8A"/>
                </a:solidFill>
              </a:rPr>
              <a:t>vw_daily_oil_news_features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809F0-616B-4888-97F7-12289D49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35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Daily Brent/WTI, GPR, event, and volatility features for analysis and model inputs.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F8E25-C25F-444E-BD8A-2204B7D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8A7B"/>
                </a:solidFill>
              </a:defRPr>
            </a:pPr>
            <a:r>
              <a:rPr sz="2250" b="1">
                <a:solidFill>
                  <a:srgbClr val="1F8A7B"/>
                </a:solidFill>
              </a:rPr>
              <a:t>vw_event_price_reaction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B5542-EE89-4222-8CDC-7226EB82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535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Event-date oil price and risk indicators to inspect geopolitical market reactions.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CA12B-68D1-4547-87F6-13FE6285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2098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58A1A"/>
                </a:solidFill>
              </a:defRPr>
            </a:pPr>
            <a:r>
              <a:rPr sz="2250" b="1">
                <a:solidFill>
                  <a:srgbClr val="C58A1A"/>
                </a:solidFill>
              </a:rPr>
              <a:t>vw_country_petrol_impact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28501-01B4-4AFA-BD8A-E4F1100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724150"/>
            <a:ext cx="535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Country exposure, petrol price snapshots, and vulnerability indicators in one reporting surface.</a:t>
            </a:r>
          </a:p>
        </p:txBody>
      </p:sp>
    </p:spTree>
    <p:extLst>
      <p:ext uri="{BB962C8B-B14F-4D97-AF65-F5344CB8AC3E}">
        <p14:creationId xmlns:p14="http://schemas.microsoft.com/office/powerpoint/2010/main" val="18710849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02B89E-CE4E-425D-A825-48D95EE5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7277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A transparent scikit-learn model predicts next-day Brent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D547C0-8999-44FD-B981-44E2BE3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832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The model is deliberately interpretable and reproducible for a database project showcase.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D09BB-649D-4A99-9CA1-94EA5A1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09600"/>
            <a:ext cx="889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5C8A"/>
                </a:solidFill>
              </a:defRPr>
            </a:pPr>
            <a:r>
              <a:rPr sz="2550" b="1">
                <a:solidFill>
                  <a:srgbClr val="1E5C8A"/>
                </a:solidFill>
              </a:rPr>
              <a:t>3,236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31611-FDF5-4624-9011-D01FF436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009650"/>
            <a:ext cx="889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A"/>
                </a:solidFill>
              </a:defRPr>
            </a:pPr>
            <a:r>
              <a:rPr sz="1125">
                <a:solidFill>
                  <a:srgbClr val="5C6C7A"/>
                </a:solidFill>
              </a:rPr>
              <a:t>training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6E6A6-E690-446E-9421-C2247498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76350"/>
            <a:ext cx="889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8A7B"/>
                </a:solidFill>
              </a:defRPr>
            </a:pPr>
            <a:r>
              <a:rPr sz="2550" b="1">
                <a:solidFill>
                  <a:srgbClr val="1F8A7B"/>
                </a:solidFill>
              </a:rPr>
              <a:t>810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F6871-458A-453F-966B-8B1181AD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889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A"/>
                </a:solidFill>
              </a:defRPr>
            </a:pPr>
            <a:r>
              <a:rPr sz="1125">
                <a:solidFill>
                  <a:srgbClr val="5C6C7A"/>
                </a:solidFill>
              </a:rPr>
              <a:t>test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4F878-E871-4389-9929-8217E346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889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58A1A"/>
                </a:solidFill>
              </a:defRPr>
            </a:pPr>
            <a:r>
              <a:rPr sz="2550" b="1">
                <a:solidFill>
                  <a:srgbClr val="C58A1A"/>
                </a:solidFill>
              </a:rPr>
              <a:t>0.1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D5EAD-AB19-4211-B78D-AD405EE3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889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A"/>
                </a:solidFill>
              </a:defRPr>
            </a:pPr>
            <a:r>
              <a:rPr sz="1125">
                <a:solidFill>
                  <a:srgbClr val="5C6C7A"/>
                </a:solidFill>
              </a:rPr>
              <a:t>Ridge alpha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82C56-E07B-47C7-B0AE-B4E5764D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131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8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1ECA6-C0A1-4B58-A1F8-07D7C6AE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5A67A-9AD7-4B76-B0AE-C313D167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Chronological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537EB-8DFF-4DFE-AF34-8210F3DE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655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Train through 2022-12-21; test through 2026-03-12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13C8A-9049-4461-BC52-5F9D9307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141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4FB85-7805-4702-A8F4-A32F42D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EF1D7-CAFD-45E0-ADA0-4EEC6A5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Standardize inputs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FBE04-0A1A-445C-AA75-3A27264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655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Scale market, risk, volatility, lag, and event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F3A89-B9A2-4959-A320-389C5729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151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58A1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155E7-35C1-44C6-9697-5B8A21F3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85A91-5F52-4069-AC3C-CA12E34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Fit Ridge 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8850B-1082-48DF-980C-D57A177B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655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Regularized linear model saved as a joblib 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D7E03-5556-4E40-87EE-43971F68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161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5B4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29C32-3E0D-4B91-BBD6-1ED698DE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552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1E9EF-07E7-4406-AB58-1F56CF23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Export metrics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5EE96-F23A-4E82-B709-098DC1BD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655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C7A"/>
                </a:solidFill>
              </a:defRPr>
            </a:pPr>
            <a:r>
              <a:rPr sz="1425">
                <a:solidFill>
                  <a:srgbClr val="5C6C7A"/>
                </a:solidFill>
              </a:rPr>
              <a:t>JSON metadata and CSV test predictions for review</a:t>
            </a:r>
          </a:p>
        </p:txBody>
      </p:sp>
    </p:spTree>
    <p:extLst>
      <p:ext uri="{BB962C8B-B14F-4D97-AF65-F5344CB8AC3E}">
        <p14:creationId xmlns:p14="http://schemas.microsoft.com/office/powerpoint/2010/main" val="11188267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C96E1D-4ECD-4761-9D15-8645469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Features combine prices, risk, volatility, and events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A8A1DE-5699-433C-B64E-FB435C8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The model uses 20 fields from ops_market_daily.csv.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8E99D-F864-427F-9484-2FE5F85E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E5C8A"/>
                </a:solidFill>
              </a:defRPr>
            </a:pPr>
            <a:r>
              <a:rPr sz="4350" b="1">
                <a:solidFill>
                  <a:srgbClr val="1E5C8A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8735A-C95C-436F-96AE-AE664A9B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current oil prices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1C426-7E47-4D7A-91EE-1C947B1D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8A7B"/>
                </a:solidFill>
              </a:defRPr>
            </a:pPr>
            <a:r>
              <a:rPr sz="4350" b="1">
                <a:solidFill>
                  <a:srgbClr val="1F8A7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27AF6-29AC-42BD-B42E-84B65203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479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macro indicators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A8150-A123-4DB2-92F5-C50A354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58A1A"/>
                </a:solidFill>
              </a:defRPr>
            </a:pPr>
            <a:r>
              <a:rPr sz="4350" b="1">
                <a:solidFill>
                  <a:srgbClr val="C58A1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89D1A-FF66-44AF-B3DC-24C71B3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GPR risk index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310F3-64D3-45C0-9896-B0449324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9431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65B4B"/>
                </a:solidFill>
              </a:defRPr>
            </a:pPr>
            <a:r>
              <a:rPr sz="4350" b="1">
                <a:solidFill>
                  <a:srgbClr val="B65B4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8A490-3210-4ECB-B288-49EA210C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26479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daily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0B606-C3C5-4C19-8A45-1E742FC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E5C8A"/>
                </a:solidFill>
              </a:defRPr>
            </a:pPr>
            <a:r>
              <a:rPr sz="4350" b="1">
                <a:solidFill>
                  <a:srgbClr val="1E5C8A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F49B6-B1F0-4E8B-818E-4B08DAE1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484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lagged prices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B5B56-1397-4E29-8937-AB671F17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436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8A7B"/>
                </a:solidFill>
              </a:defRPr>
            </a:pPr>
            <a:r>
              <a:rPr sz="4350" b="1">
                <a:solidFill>
                  <a:srgbClr val="1F8A7B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CF710-B028-483C-B727-E6BBEDB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6484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volatility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4466A-DD6B-4305-AD34-BC92B75D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436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58A1A"/>
                </a:solidFill>
              </a:defRPr>
            </a:pPr>
            <a:r>
              <a:rPr sz="4350" b="1">
                <a:solidFill>
                  <a:srgbClr val="C58A1A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5003A-CF9B-4A39-8374-9128EAE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6484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Brent-WTI spread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1D355-9316-4D4C-A338-E1711C9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943600"/>
            <a:ext cx="3981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65B4B"/>
                </a:solidFill>
              </a:defRPr>
            </a:pPr>
            <a:r>
              <a:rPr sz="4350" b="1">
                <a:solidFill>
                  <a:srgbClr val="B65B4B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57B00-384F-4FE5-BC77-23BF7E34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648450"/>
            <a:ext cx="3981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event features</a:t>
            </a:r>
          </a:p>
        </p:txBody>
      </p:sp>
    </p:spTree>
    <p:extLst>
      <p:ext uri="{BB962C8B-B14F-4D97-AF65-F5344CB8AC3E}">
        <p14:creationId xmlns:p14="http://schemas.microsoft.com/office/powerpoint/2010/main" val="4752269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6209B1-20D0-43B4-8588-8DFEBEA8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8515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The model narrowly beats a strong baseline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49BC56-0636-4827-8271-9E2BC874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790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Next-day oil pricing is hard because yesterday's price is already an excellent predictor.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40073-CAE8-4D5E-A56D-1B7A3FC3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9600"/>
            <a:ext cx="769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02E"/>
                </a:solidFill>
              </a:defRPr>
            </a:pPr>
            <a:r>
              <a:rPr sz="2250" b="1">
                <a:solidFill>
                  <a:srgbClr val="10202E"/>
                </a:solidFill>
              </a:rPr>
              <a:t>Test-set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B70C7-C050-411E-926E-3D9F51FE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8585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2E"/>
                </a:solidFill>
              </a:defRPr>
            </a:pPr>
            <a:r>
              <a:rPr sz="1425" b="1">
                <a:solidFill>
                  <a:srgbClr val="10202E"/>
                </a:solidFill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164BA-980D-446A-A709-0E4FD3D0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085850"/>
            <a:ext cx="129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8A7B"/>
                </a:solidFill>
              </a:defRPr>
            </a:pPr>
            <a:r>
              <a:rPr sz="1575" b="1">
                <a:solidFill>
                  <a:srgbClr val="1F8A7B"/>
                </a:solidFill>
              </a:rPr>
              <a:t>1.118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8EDF2-1FB8-42CC-AFE3-C50CCBB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085850"/>
            <a:ext cx="472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A"/>
                </a:solidFill>
              </a:defRPr>
            </a:pPr>
            <a:r>
              <a:rPr sz="1275">
                <a:solidFill>
                  <a:srgbClr val="5C6C7A"/>
                </a:solidFill>
              </a:rPr>
              <a:t>Model error in USD; baseline is 1.113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812D0-952D-4ADB-89EC-7A8D775A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6685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2E"/>
                </a:solidFill>
              </a:defRPr>
            </a:pPr>
            <a:r>
              <a:rPr sz="1425" b="1">
                <a:solidFill>
                  <a:srgbClr val="10202E"/>
                </a:solidFill>
              </a:rPr>
              <a:t>RMSE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2E01E-51F5-4717-8977-EDBA855B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466850"/>
            <a:ext cx="129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5C8A"/>
                </a:solidFill>
              </a:defRPr>
            </a:pPr>
            <a:r>
              <a:rPr sz="1575" b="1">
                <a:solidFill>
                  <a:srgbClr val="1E5C8A"/>
                </a:solidFill>
              </a:rPr>
              <a:t>1.516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22103-6B42-4BF6-85BB-30590C10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466850"/>
            <a:ext cx="472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A"/>
                </a:solidFill>
              </a:defRPr>
            </a:pPr>
            <a:r>
              <a:rPr sz="1275">
                <a:solidFill>
                  <a:srgbClr val="5C6C7A"/>
                </a:solidFill>
              </a:rPr>
              <a:t>Model error in USD; baseline is 1.536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515E5-ACAF-495D-945D-F4DE212D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288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2E"/>
                </a:solidFill>
              </a:defRPr>
            </a:pPr>
            <a:r>
              <a:rPr sz="1425" b="1">
                <a:solidFill>
                  <a:srgbClr val="10202E"/>
                </a:solidFill>
              </a:rPr>
              <a:t>MAPE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29ED3-6BA2-4A8E-B395-51AD87C3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828800"/>
            <a:ext cx="129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58A1A"/>
                </a:solidFill>
              </a:defRPr>
            </a:pPr>
            <a:r>
              <a:rPr sz="1575" b="1">
                <a:solidFill>
                  <a:srgbClr val="C58A1A"/>
                </a:solidFill>
              </a:rPr>
              <a:t>1.463%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8570E-5171-4195-96CC-459B1AE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828800"/>
            <a:ext cx="472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A"/>
                </a:solidFill>
              </a:defRPr>
            </a:pPr>
            <a:r>
              <a:rPr sz="1275">
                <a:solidFill>
                  <a:srgbClr val="5C6C7A"/>
                </a:solidFill>
              </a:rPr>
              <a:t>Percent error on chronological test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4F753-33AD-442E-94FC-378BD2AE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98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2E"/>
                </a:solidFill>
              </a:defRPr>
            </a:pPr>
            <a:r>
              <a:rPr sz="1425" b="1">
                <a:solidFill>
                  <a:srgbClr val="10202E"/>
                </a:solidFill>
              </a:rPr>
              <a:t>R-squared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D90A5-BB8A-4A6A-A2DC-0EE8F0C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209800"/>
            <a:ext cx="129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5B4B"/>
                </a:solidFill>
              </a:defRPr>
            </a:pPr>
            <a:r>
              <a:rPr sz="1575" b="1">
                <a:solidFill>
                  <a:srgbClr val="B65B4B"/>
                </a:solidFill>
              </a:rPr>
              <a:t>0.967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0844A-E6FC-4F00-BAB1-53B0C12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209800"/>
            <a:ext cx="472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C7A"/>
                </a:solidFill>
              </a:defRPr>
            </a:pPr>
            <a:r>
              <a:rPr sz="1275">
                <a:solidFill>
                  <a:srgbClr val="5C6C7A"/>
                </a:solidFill>
              </a:rPr>
              <a:t>Variance explained on future holdout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183AB-F392-409E-A4C5-6F0385E4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7696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C7A"/>
                </a:solidFill>
              </a:defRPr>
            </a:pPr>
            <a:r>
              <a:rPr sz="1125">
                <a:solidFill>
                  <a:srgbClr val="5C6C7A"/>
                </a:solidFill>
              </a:rPr>
              <a:t>Baseline = previous trading-day Brent price.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48053-1845-4581-9154-CEBB4CBD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85153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E5C8A"/>
                </a:solidFill>
              </a:defRPr>
            </a:pPr>
            <a:r>
              <a:rPr sz="4350" b="1">
                <a:solidFill>
                  <a:srgbClr val="1E5C8A"/>
                </a:solidFill>
              </a:rPr>
              <a:t>1.516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B88C5-CA61-497B-B468-AA59F27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851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test RMSE, USD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FBFA5-217B-422B-A3D2-3093DE52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85153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8A7B"/>
                </a:solidFill>
              </a:defRPr>
            </a:pPr>
            <a:r>
              <a:rPr sz="4350" b="1">
                <a:solidFill>
                  <a:srgbClr val="1F8A7B"/>
                </a:solidFill>
              </a:rPr>
              <a:t>1.118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B8E81-8755-4D0A-8B43-C4F09D0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851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test MAE, USD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94BCD-6DC1-4CB7-8F83-26817377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85153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58A1A"/>
                </a:solidFill>
              </a:defRPr>
            </a:pPr>
            <a:r>
              <a:rPr sz="4350" b="1">
                <a:solidFill>
                  <a:srgbClr val="C58A1A"/>
                </a:solidFill>
              </a:rPr>
              <a:t>0.967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B8E95-4E49-4B0C-B047-033D220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57900"/>
            <a:ext cx="851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C7A"/>
                </a:solidFill>
              </a:defRPr>
            </a:pPr>
            <a:r>
              <a:rPr sz="1350">
                <a:solidFill>
                  <a:srgbClr val="5C6C7A"/>
                </a:solidFill>
              </a:rPr>
              <a:t>test R-squared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543ED-218B-4713-BD40-5D3056B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3415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The result is credible because it is evaluated on a future holdout period, not a shuffled split.</a:t>
            </a:r>
          </a:p>
        </p:txBody>
      </p:sp>
    </p:spTree>
    <p:extLst>
      <p:ext uri="{BB962C8B-B14F-4D97-AF65-F5344CB8AC3E}">
        <p14:creationId xmlns:p14="http://schemas.microsoft.com/office/powerpoint/2010/main" val="9963790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D1A10-E6BD-43C7-AB87-84724564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2E"/>
                </a:solidFill>
              </a:defRPr>
            </a:pPr>
            <a:r>
              <a:rPr sz="4050" b="1">
                <a:solidFill>
                  <a:srgbClr val="10202E"/>
                </a:solidFill>
              </a:rPr>
              <a:t>The handoff is reproducible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44E320-D8CD-468A-AF12-61AC3ED8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6838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6C7A"/>
                </a:solidFill>
              </a:defRPr>
            </a:pPr>
            <a:r>
              <a:rPr sz="1800">
                <a:solidFill>
                  <a:srgbClr val="5C6C7A"/>
                </a:solidFill>
              </a:rPr>
              <a:t>Everything needed to load, train, predict, and present is in the workspace.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AD9B3-9D7A-485E-B782-1A7A1649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5C8A"/>
                </a:solidFill>
              </a:defRPr>
            </a:pPr>
            <a:r>
              <a:rPr sz="2550" b="1">
                <a:solidFill>
                  <a:srgbClr val="1E5C8A"/>
                </a:solidFill>
              </a:rPr>
              <a:t>Run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BBF75-B12E-486A-8EEB-8143EBC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python -m pip install -r requirements.txt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C92D3-DF68-4D6D-9DBC-1C7247B6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python src\load_mysql.py --replace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6AE7F-67A5-4C07-B937-26216BF3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python src\train_oil_model.py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27F1D-04EF-4167-8595-F2DBEE54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python src\predict_oil_price.py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BCDFF-7E18-4409-AA61-26D4E6EE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62150"/>
            <a:ext cx="811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8A7B"/>
                </a:solidFill>
              </a:defRPr>
            </a:pPr>
            <a:r>
              <a:rPr sz="2550" b="1">
                <a:solidFill>
                  <a:srgbClr val="1F8A7B"/>
                </a:solidFill>
              </a:rPr>
              <a:t>Deliverables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F6D55-B16C-43F8-B060-E125525C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1460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MySQL loader and 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430E9-E242-4350-A45B-FED038B4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Database schema guide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62881-5C5C-4EB9-8377-B9CB9BF1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718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Trained sklearn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7BC00-09E9-47BD-85CB-654F6C70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Markdown/PDF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66472-5273-4035-A1F0-272D9B88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2910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02E"/>
                </a:solidFill>
              </a:defRPr>
            </a:pPr>
            <a:r>
              <a:rPr sz="1800">
                <a:solidFill>
                  <a:srgbClr val="10202E"/>
                </a:solidFill>
              </a:rPr>
              <a:t>- Editable deck source, PPTX, and PDF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5BCAA-6557-48B8-BAB5-890050BD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91650"/>
            <a:ext cx="1668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02E"/>
                </a:solidFill>
              </a:defRPr>
            </a:pPr>
            <a:r>
              <a:rPr sz="1875" b="1">
                <a:solidFill>
                  <a:srgbClr val="10202E"/>
                </a:solidFill>
              </a:rPr>
              <a:t>Next improvements: foreign keys and indexes, dashboarding from views, rolling-window validation, and model prediction tables in MySQL.</a:t>
            </a:r>
          </a:p>
        </p:txBody>
      </p:sp>
    </p:spTree>
    <p:extLst>
      <p:ext uri="{BB962C8B-B14F-4D97-AF65-F5344CB8AC3E}">
        <p14:creationId xmlns:p14="http://schemas.microsoft.com/office/powerpoint/2010/main" val="436685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2026-05-07T01:52:43.4640000Z</dcterms:created>
  <dcterms:modified xsi:type="dcterms:W3CDTF">2026-05-07T01:52:43.4640000Z</dcterms:modified>
</coreProperties>
</file>